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72" r:id="rId16"/>
    <p:sldId id="269" r:id="rId17"/>
    <p:sldId id="270" r:id="rId18"/>
    <p:sldId id="273" r:id="rId19"/>
    <p:sldId id="274" r:id="rId20"/>
    <p:sldId id="275" r:id="rId21"/>
    <p:sldId id="279" r:id="rId22"/>
    <p:sldId id="276" r:id="rId23"/>
    <p:sldId id="277" r:id="rId24"/>
    <p:sldId id="278"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F8210-A9D5-42C3-AE8F-C928572E7A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132BEDF-092A-4392-9AE0-1339DEEC28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5E92951-E21A-4B0F-81A3-F2EF163BE645}"/>
              </a:ext>
            </a:extLst>
          </p:cNvPr>
          <p:cNvSpPr>
            <a:spLocks noGrp="1"/>
          </p:cNvSpPr>
          <p:nvPr>
            <p:ph type="dt" sz="half" idx="10"/>
          </p:nvPr>
        </p:nvSpPr>
        <p:spPr/>
        <p:txBody>
          <a:bodyPr/>
          <a:lstStyle/>
          <a:p>
            <a:fld id="{5F33BA73-A08B-499D-B352-9F346E0EEC72}" type="datetimeFigureOut">
              <a:rPr lang="en-IN" smtClean="0"/>
              <a:t>23-04-2024</a:t>
            </a:fld>
            <a:endParaRPr lang="en-IN"/>
          </a:p>
        </p:txBody>
      </p:sp>
      <p:sp>
        <p:nvSpPr>
          <p:cNvPr id="5" name="Footer Placeholder 4">
            <a:extLst>
              <a:ext uri="{FF2B5EF4-FFF2-40B4-BE49-F238E27FC236}">
                <a16:creationId xmlns:a16="http://schemas.microsoft.com/office/drawing/2014/main" id="{D98DF006-5B7A-4B98-90E6-C849728DA5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8EB561-38D1-4FCD-98DF-3FADD07A6F1C}"/>
              </a:ext>
            </a:extLst>
          </p:cNvPr>
          <p:cNvSpPr>
            <a:spLocks noGrp="1"/>
          </p:cNvSpPr>
          <p:nvPr>
            <p:ph type="sldNum" sz="quarter" idx="12"/>
          </p:nvPr>
        </p:nvSpPr>
        <p:spPr/>
        <p:txBody>
          <a:bodyPr/>
          <a:lstStyle/>
          <a:p>
            <a:fld id="{3C226DB0-9D1A-4B21-B1BE-005864917E5B}" type="slidenum">
              <a:rPr lang="en-IN" smtClean="0"/>
              <a:t>‹#›</a:t>
            </a:fld>
            <a:endParaRPr lang="en-IN"/>
          </a:p>
        </p:txBody>
      </p:sp>
    </p:spTree>
    <p:extLst>
      <p:ext uri="{BB962C8B-B14F-4D97-AF65-F5344CB8AC3E}">
        <p14:creationId xmlns:p14="http://schemas.microsoft.com/office/powerpoint/2010/main" val="3874495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41677-53A5-4667-A67D-6F046A2645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D0CB9F-381E-40FE-9CD1-5620468FFD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1C1F52-CA71-4C7F-8563-F7F8A6B3C8AD}"/>
              </a:ext>
            </a:extLst>
          </p:cNvPr>
          <p:cNvSpPr>
            <a:spLocks noGrp="1"/>
          </p:cNvSpPr>
          <p:nvPr>
            <p:ph type="dt" sz="half" idx="10"/>
          </p:nvPr>
        </p:nvSpPr>
        <p:spPr/>
        <p:txBody>
          <a:bodyPr/>
          <a:lstStyle/>
          <a:p>
            <a:fld id="{5F33BA73-A08B-499D-B352-9F346E0EEC72}" type="datetimeFigureOut">
              <a:rPr lang="en-IN" smtClean="0"/>
              <a:t>23-04-2024</a:t>
            </a:fld>
            <a:endParaRPr lang="en-IN"/>
          </a:p>
        </p:txBody>
      </p:sp>
      <p:sp>
        <p:nvSpPr>
          <p:cNvPr id="5" name="Footer Placeholder 4">
            <a:extLst>
              <a:ext uri="{FF2B5EF4-FFF2-40B4-BE49-F238E27FC236}">
                <a16:creationId xmlns:a16="http://schemas.microsoft.com/office/drawing/2014/main" id="{BD7FCBC4-C257-4354-9379-81A207CAF0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5BED06-EAD1-4A4A-ABF4-C80D12C82E3A}"/>
              </a:ext>
            </a:extLst>
          </p:cNvPr>
          <p:cNvSpPr>
            <a:spLocks noGrp="1"/>
          </p:cNvSpPr>
          <p:nvPr>
            <p:ph type="sldNum" sz="quarter" idx="12"/>
          </p:nvPr>
        </p:nvSpPr>
        <p:spPr/>
        <p:txBody>
          <a:bodyPr/>
          <a:lstStyle/>
          <a:p>
            <a:fld id="{3C226DB0-9D1A-4B21-B1BE-005864917E5B}" type="slidenum">
              <a:rPr lang="en-IN" smtClean="0"/>
              <a:t>‹#›</a:t>
            </a:fld>
            <a:endParaRPr lang="en-IN"/>
          </a:p>
        </p:txBody>
      </p:sp>
    </p:spTree>
    <p:extLst>
      <p:ext uri="{BB962C8B-B14F-4D97-AF65-F5344CB8AC3E}">
        <p14:creationId xmlns:p14="http://schemas.microsoft.com/office/powerpoint/2010/main" val="1888459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A68D-F340-4F10-B3E0-E80A87151F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4E9C199-E98B-4AAF-982A-84093952C3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D9017E-4EA1-40B5-8F03-4129238DEEE9}"/>
              </a:ext>
            </a:extLst>
          </p:cNvPr>
          <p:cNvSpPr>
            <a:spLocks noGrp="1"/>
          </p:cNvSpPr>
          <p:nvPr>
            <p:ph type="dt" sz="half" idx="10"/>
          </p:nvPr>
        </p:nvSpPr>
        <p:spPr/>
        <p:txBody>
          <a:bodyPr/>
          <a:lstStyle/>
          <a:p>
            <a:fld id="{5F33BA73-A08B-499D-B352-9F346E0EEC72}" type="datetimeFigureOut">
              <a:rPr lang="en-IN" smtClean="0"/>
              <a:t>23-04-2024</a:t>
            </a:fld>
            <a:endParaRPr lang="en-IN"/>
          </a:p>
        </p:txBody>
      </p:sp>
      <p:sp>
        <p:nvSpPr>
          <p:cNvPr id="5" name="Footer Placeholder 4">
            <a:extLst>
              <a:ext uri="{FF2B5EF4-FFF2-40B4-BE49-F238E27FC236}">
                <a16:creationId xmlns:a16="http://schemas.microsoft.com/office/drawing/2014/main" id="{7D45E1CC-6F10-417F-A998-C25C003251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E647CC-D230-4031-BDA7-A272142DFD77}"/>
              </a:ext>
            </a:extLst>
          </p:cNvPr>
          <p:cNvSpPr>
            <a:spLocks noGrp="1"/>
          </p:cNvSpPr>
          <p:nvPr>
            <p:ph type="sldNum" sz="quarter" idx="12"/>
          </p:nvPr>
        </p:nvSpPr>
        <p:spPr/>
        <p:txBody>
          <a:bodyPr/>
          <a:lstStyle/>
          <a:p>
            <a:fld id="{3C226DB0-9D1A-4B21-B1BE-005864917E5B}" type="slidenum">
              <a:rPr lang="en-IN" smtClean="0"/>
              <a:t>‹#›</a:t>
            </a:fld>
            <a:endParaRPr lang="en-IN"/>
          </a:p>
        </p:txBody>
      </p:sp>
    </p:spTree>
    <p:extLst>
      <p:ext uri="{BB962C8B-B14F-4D97-AF65-F5344CB8AC3E}">
        <p14:creationId xmlns:p14="http://schemas.microsoft.com/office/powerpoint/2010/main" val="2879424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C06E-FB75-4F2D-A2B3-8746F9E3F7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08490A-9CB5-4926-8C2E-E5209BBDA2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5F8D44-5148-472D-AC86-AF1D0059DF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49A8492-3293-4083-ADFC-DC89ED4BA181}"/>
              </a:ext>
            </a:extLst>
          </p:cNvPr>
          <p:cNvSpPr>
            <a:spLocks noGrp="1"/>
          </p:cNvSpPr>
          <p:nvPr>
            <p:ph type="dt" sz="half" idx="10"/>
          </p:nvPr>
        </p:nvSpPr>
        <p:spPr/>
        <p:txBody>
          <a:bodyPr/>
          <a:lstStyle/>
          <a:p>
            <a:fld id="{5F33BA73-A08B-499D-B352-9F346E0EEC72}" type="datetimeFigureOut">
              <a:rPr lang="en-IN" smtClean="0"/>
              <a:t>23-04-2024</a:t>
            </a:fld>
            <a:endParaRPr lang="en-IN"/>
          </a:p>
        </p:txBody>
      </p:sp>
      <p:sp>
        <p:nvSpPr>
          <p:cNvPr id="6" name="Footer Placeholder 5">
            <a:extLst>
              <a:ext uri="{FF2B5EF4-FFF2-40B4-BE49-F238E27FC236}">
                <a16:creationId xmlns:a16="http://schemas.microsoft.com/office/drawing/2014/main" id="{76527398-4003-48F0-A6B0-321C5C1126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D43F06-765B-482A-85BC-ABA08EF77619}"/>
              </a:ext>
            </a:extLst>
          </p:cNvPr>
          <p:cNvSpPr>
            <a:spLocks noGrp="1"/>
          </p:cNvSpPr>
          <p:nvPr>
            <p:ph type="sldNum" sz="quarter" idx="12"/>
          </p:nvPr>
        </p:nvSpPr>
        <p:spPr/>
        <p:txBody>
          <a:bodyPr/>
          <a:lstStyle/>
          <a:p>
            <a:fld id="{3C226DB0-9D1A-4B21-B1BE-005864917E5B}" type="slidenum">
              <a:rPr lang="en-IN" smtClean="0"/>
              <a:t>‹#›</a:t>
            </a:fld>
            <a:endParaRPr lang="en-IN"/>
          </a:p>
        </p:txBody>
      </p:sp>
    </p:spTree>
    <p:extLst>
      <p:ext uri="{BB962C8B-B14F-4D97-AF65-F5344CB8AC3E}">
        <p14:creationId xmlns:p14="http://schemas.microsoft.com/office/powerpoint/2010/main" val="1504123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086D4-6484-4ABF-AD59-EE76673EBFC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F15592-FD70-4059-9652-A43E6452B4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0CBE13-ECB8-4C14-90C0-B1F02325F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4E68D11-04D9-48AC-B363-FED3BEDE32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B28266-0C7E-4BD9-8D2E-8CC5243216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51B6994-E623-4A10-8483-AABE7000315C}"/>
              </a:ext>
            </a:extLst>
          </p:cNvPr>
          <p:cNvSpPr>
            <a:spLocks noGrp="1"/>
          </p:cNvSpPr>
          <p:nvPr>
            <p:ph type="dt" sz="half" idx="10"/>
          </p:nvPr>
        </p:nvSpPr>
        <p:spPr/>
        <p:txBody>
          <a:bodyPr/>
          <a:lstStyle/>
          <a:p>
            <a:fld id="{5F33BA73-A08B-499D-B352-9F346E0EEC72}" type="datetimeFigureOut">
              <a:rPr lang="en-IN" smtClean="0"/>
              <a:t>23-04-2024</a:t>
            </a:fld>
            <a:endParaRPr lang="en-IN"/>
          </a:p>
        </p:txBody>
      </p:sp>
      <p:sp>
        <p:nvSpPr>
          <p:cNvPr id="8" name="Footer Placeholder 7">
            <a:extLst>
              <a:ext uri="{FF2B5EF4-FFF2-40B4-BE49-F238E27FC236}">
                <a16:creationId xmlns:a16="http://schemas.microsoft.com/office/drawing/2014/main" id="{F83FC2B8-5BC1-4460-A263-7B4B36AE61A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F374EF5-AFD2-48A4-B25C-542CF4EB32C8}"/>
              </a:ext>
            </a:extLst>
          </p:cNvPr>
          <p:cNvSpPr>
            <a:spLocks noGrp="1"/>
          </p:cNvSpPr>
          <p:nvPr>
            <p:ph type="sldNum" sz="quarter" idx="12"/>
          </p:nvPr>
        </p:nvSpPr>
        <p:spPr/>
        <p:txBody>
          <a:bodyPr/>
          <a:lstStyle/>
          <a:p>
            <a:fld id="{3C226DB0-9D1A-4B21-B1BE-005864917E5B}" type="slidenum">
              <a:rPr lang="en-IN" smtClean="0"/>
              <a:t>‹#›</a:t>
            </a:fld>
            <a:endParaRPr lang="en-IN"/>
          </a:p>
        </p:txBody>
      </p:sp>
    </p:spTree>
    <p:extLst>
      <p:ext uri="{BB962C8B-B14F-4D97-AF65-F5344CB8AC3E}">
        <p14:creationId xmlns:p14="http://schemas.microsoft.com/office/powerpoint/2010/main" val="2127934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77DA-BB17-4A0F-B2CA-7CA6FBD39F2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A723E90-99D7-4096-9F8E-A7A2F75FE451}"/>
              </a:ext>
            </a:extLst>
          </p:cNvPr>
          <p:cNvSpPr>
            <a:spLocks noGrp="1"/>
          </p:cNvSpPr>
          <p:nvPr>
            <p:ph type="dt" sz="half" idx="10"/>
          </p:nvPr>
        </p:nvSpPr>
        <p:spPr/>
        <p:txBody>
          <a:bodyPr/>
          <a:lstStyle/>
          <a:p>
            <a:fld id="{5F33BA73-A08B-499D-B352-9F346E0EEC72}" type="datetimeFigureOut">
              <a:rPr lang="en-IN" smtClean="0"/>
              <a:t>23-04-2024</a:t>
            </a:fld>
            <a:endParaRPr lang="en-IN"/>
          </a:p>
        </p:txBody>
      </p:sp>
      <p:sp>
        <p:nvSpPr>
          <p:cNvPr id="4" name="Footer Placeholder 3">
            <a:extLst>
              <a:ext uri="{FF2B5EF4-FFF2-40B4-BE49-F238E27FC236}">
                <a16:creationId xmlns:a16="http://schemas.microsoft.com/office/drawing/2014/main" id="{53D6F924-659C-4E16-86FB-EE1A323FEB4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BD00C97-ACF4-45D0-B373-6916C026E23D}"/>
              </a:ext>
            </a:extLst>
          </p:cNvPr>
          <p:cNvSpPr>
            <a:spLocks noGrp="1"/>
          </p:cNvSpPr>
          <p:nvPr>
            <p:ph type="sldNum" sz="quarter" idx="12"/>
          </p:nvPr>
        </p:nvSpPr>
        <p:spPr/>
        <p:txBody>
          <a:bodyPr/>
          <a:lstStyle/>
          <a:p>
            <a:fld id="{3C226DB0-9D1A-4B21-B1BE-005864917E5B}" type="slidenum">
              <a:rPr lang="en-IN" smtClean="0"/>
              <a:t>‹#›</a:t>
            </a:fld>
            <a:endParaRPr lang="en-IN"/>
          </a:p>
        </p:txBody>
      </p:sp>
    </p:spTree>
    <p:extLst>
      <p:ext uri="{BB962C8B-B14F-4D97-AF65-F5344CB8AC3E}">
        <p14:creationId xmlns:p14="http://schemas.microsoft.com/office/powerpoint/2010/main" val="418677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7E6924-00C3-435F-A502-1BD0C362C7FE}"/>
              </a:ext>
            </a:extLst>
          </p:cNvPr>
          <p:cNvSpPr>
            <a:spLocks noGrp="1"/>
          </p:cNvSpPr>
          <p:nvPr>
            <p:ph type="dt" sz="half" idx="10"/>
          </p:nvPr>
        </p:nvSpPr>
        <p:spPr/>
        <p:txBody>
          <a:bodyPr/>
          <a:lstStyle/>
          <a:p>
            <a:fld id="{5F33BA73-A08B-499D-B352-9F346E0EEC72}" type="datetimeFigureOut">
              <a:rPr lang="en-IN" smtClean="0"/>
              <a:t>23-04-2024</a:t>
            </a:fld>
            <a:endParaRPr lang="en-IN"/>
          </a:p>
        </p:txBody>
      </p:sp>
      <p:sp>
        <p:nvSpPr>
          <p:cNvPr id="3" name="Footer Placeholder 2">
            <a:extLst>
              <a:ext uri="{FF2B5EF4-FFF2-40B4-BE49-F238E27FC236}">
                <a16:creationId xmlns:a16="http://schemas.microsoft.com/office/drawing/2014/main" id="{A76CAC99-1120-485A-92F9-D572DEC0182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63EBC1D-EDFF-4319-B21B-BD435BB480D0}"/>
              </a:ext>
            </a:extLst>
          </p:cNvPr>
          <p:cNvSpPr>
            <a:spLocks noGrp="1"/>
          </p:cNvSpPr>
          <p:nvPr>
            <p:ph type="sldNum" sz="quarter" idx="12"/>
          </p:nvPr>
        </p:nvSpPr>
        <p:spPr/>
        <p:txBody>
          <a:bodyPr/>
          <a:lstStyle/>
          <a:p>
            <a:fld id="{3C226DB0-9D1A-4B21-B1BE-005864917E5B}" type="slidenum">
              <a:rPr lang="en-IN" smtClean="0"/>
              <a:t>‹#›</a:t>
            </a:fld>
            <a:endParaRPr lang="en-IN"/>
          </a:p>
        </p:txBody>
      </p:sp>
    </p:spTree>
    <p:extLst>
      <p:ext uri="{BB962C8B-B14F-4D97-AF65-F5344CB8AC3E}">
        <p14:creationId xmlns:p14="http://schemas.microsoft.com/office/powerpoint/2010/main" val="3688737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D335C-9A34-42B6-8DE1-A5887B004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A59FAA5-F171-47A4-8858-7737AC8082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72FC2E-2011-444B-895F-4D1186D3C1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7DADAB-20B1-4454-BDDC-CC82A81B6883}"/>
              </a:ext>
            </a:extLst>
          </p:cNvPr>
          <p:cNvSpPr>
            <a:spLocks noGrp="1"/>
          </p:cNvSpPr>
          <p:nvPr>
            <p:ph type="dt" sz="half" idx="10"/>
          </p:nvPr>
        </p:nvSpPr>
        <p:spPr/>
        <p:txBody>
          <a:bodyPr/>
          <a:lstStyle/>
          <a:p>
            <a:fld id="{5F33BA73-A08B-499D-B352-9F346E0EEC72}" type="datetimeFigureOut">
              <a:rPr lang="en-IN" smtClean="0"/>
              <a:t>23-04-2024</a:t>
            </a:fld>
            <a:endParaRPr lang="en-IN"/>
          </a:p>
        </p:txBody>
      </p:sp>
      <p:sp>
        <p:nvSpPr>
          <p:cNvPr id="6" name="Footer Placeholder 5">
            <a:extLst>
              <a:ext uri="{FF2B5EF4-FFF2-40B4-BE49-F238E27FC236}">
                <a16:creationId xmlns:a16="http://schemas.microsoft.com/office/drawing/2014/main" id="{B3790646-C588-455D-8033-90C138ABAE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9DAF20-2821-400A-9DDF-A6C1CBCEC463}"/>
              </a:ext>
            </a:extLst>
          </p:cNvPr>
          <p:cNvSpPr>
            <a:spLocks noGrp="1"/>
          </p:cNvSpPr>
          <p:nvPr>
            <p:ph type="sldNum" sz="quarter" idx="12"/>
          </p:nvPr>
        </p:nvSpPr>
        <p:spPr/>
        <p:txBody>
          <a:bodyPr/>
          <a:lstStyle/>
          <a:p>
            <a:fld id="{3C226DB0-9D1A-4B21-B1BE-005864917E5B}" type="slidenum">
              <a:rPr lang="en-IN" smtClean="0"/>
              <a:t>‹#›</a:t>
            </a:fld>
            <a:endParaRPr lang="en-IN"/>
          </a:p>
        </p:txBody>
      </p:sp>
    </p:spTree>
    <p:extLst>
      <p:ext uri="{BB962C8B-B14F-4D97-AF65-F5344CB8AC3E}">
        <p14:creationId xmlns:p14="http://schemas.microsoft.com/office/powerpoint/2010/main" val="2972321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FF592-EBB7-47D6-B320-0A92F0BCCA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DF2DE64-5971-422C-80CA-137645AE13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0D7DBA-E363-429D-9666-451EB286C9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61A4EE-439C-4D8F-BDE7-4C0C2C6FCFA5}"/>
              </a:ext>
            </a:extLst>
          </p:cNvPr>
          <p:cNvSpPr>
            <a:spLocks noGrp="1"/>
          </p:cNvSpPr>
          <p:nvPr>
            <p:ph type="dt" sz="half" idx="10"/>
          </p:nvPr>
        </p:nvSpPr>
        <p:spPr/>
        <p:txBody>
          <a:bodyPr/>
          <a:lstStyle/>
          <a:p>
            <a:fld id="{5F33BA73-A08B-499D-B352-9F346E0EEC72}" type="datetimeFigureOut">
              <a:rPr lang="en-IN" smtClean="0"/>
              <a:t>23-04-2024</a:t>
            </a:fld>
            <a:endParaRPr lang="en-IN"/>
          </a:p>
        </p:txBody>
      </p:sp>
      <p:sp>
        <p:nvSpPr>
          <p:cNvPr id="6" name="Footer Placeholder 5">
            <a:extLst>
              <a:ext uri="{FF2B5EF4-FFF2-40B4-BE49-F238E27FC236}">
                <a16:creationId xmlns:a16="http://schemas.microsoft.com/office/drawing/2014/main" id="{17887646-124A-4CEE-A317-697F0C2F52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8600CA-259E-4277-A6F3-7FC797A8B3FD}"/>
              </a:ext>
            </a:extLst>
          </p:cNvPr>
          <p:cNvSpPr>
            <a:spLocks noGrp="1"/>
          </p:cNvSpPr>
          <p:nvPr>
            <p:ph type="sldNum" sz="quarter" idx="12"/>
          </p:nvPr>
        </p:nvSpPr>
        <p:spPr/>
        <p:txBody>
          <a:bodyPr/>
          <a:lstStyle/>
          <a:p>
            <a:fld id="{3C226DB0-9D1A-4B21-B1BE-005864917E5B}" type="slidenum">
              <a:rPr lang="en-IN" smtClean="0"/>
              <a:t>‹#›</a:t>
            </a:fld>
            <a:endParaRPr lang="en-IN"/>
          </a:p>
        </p:txBody>
      </p:sp>
    </p:spTree>
    <p:extLst>
      <p:ext uri="{BB962C8B-B14F-4D97-AF65-F5344CB8AC3E}">
        <p14:creationId xmlns:p14="http://schemas.microsoft.com/office/powerpoint/2010/main" val="631760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52352-56E5-4C15-ADA5-772D8E0A119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BD29EA-EB93-4092-B53D-F864862352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7CB6A9-C8F3-4702-B82B-D293049EB2AF}"/>
              </a:ext>
            </a:extLst>
          </p:cNvPr>
          <p:cNvSpPr>
            <a:spLocks noGrp="1"/>
          </p:cNvSpPr>
          <p:nvPr>
            <p:ph type="dt" sz="half" idx="10"/>
          </p:nvPr>
        </p:nvSpPr>
        <p:spPr/>
        <p:txBody>
          <a:bodyPr/>
          <a:lstStyle/>
          <a:p>
            <a:fld id="{5F33BA73-A08B-499D-B352-9F346E0EEC72}" type="datetimeFigureOut">
              <a:rPr lang="en-IN" smtClean="0"/>
              <a:t>23-04-2024</a:t>
            </a:fld>
            <a:endParaRPr lang="en-IN"/>
          </a:p>
        </p:txBody>
      </p:sp>
      <p:sp>
        <p:nvSpPr>
          <p:cNvPr id="5" name="Footer Placeholder 4">
            <a:extLst>
              <a:ext uri="{FF2B5EF4-FFF2-40B4-BE49-F238E27FC236}">
                <a16:creationId xmlns:a16="http://schemas.microsoft.com/office/drawing/2014/main" id="{C3015723-7ABC-4CC6-B4F6-A6A78F664D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2B66D8-9AEC-42B5-BEAC-37F215D2FDC1}"/>
              </a:ext>
            </a:extLst>
          </p:cNvPr>
          <p:cNvSpPr>
            <a:spLocks noGrp="1"/>
          </p:cNvSpPr>
          <p:nvPr>
            <p:ph type="sldNum" sz="quarter" idx="12"/>
          </p:nvPr>
        </p:nvSpPr>
        <p:spPr/>
        <p:txBody>
          <a:bodyPr/>
          <a:lstStyle/>
          <a:p>
            <a:fld id="{3C226DB0-9D1A-4B21-B1BE-005864917E5B}" type="slidenum">
              <a:rPr lang="en-IN" smtClean="0"/>
              <a:t>‹#›</a:t>
            </a:fld>
            <a:endParaRPr lang="en-IN"/>
          </a:p>
        </p:txBody>
      </p:sp>
    </p:spTree>
    <p:extLst>
      <p:ext uri="{BB962C8B-B14F-4D97-AF65-F5344CB8AC3E}">
        <p14:creationId xmlns:p14="http://schemas.microsoft.com/office/powerpoint/2010/main" val="677150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923D55-6264-4135-8E74-B53B6621B8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3710F4-6C31-408F-A415-F2CB6A3B72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589FA9-D331-45EE-80DE-1708ADCF1E49}"/>
              </a:ext>
            </a:extLst>
          </p:cNvPr>
          <p:cNvSpPr>
            <a:spLocks noGrp="1"/>
          </p:cNvSpPr>
          <p:nvPr>
            <p:ph type="dt" sz="half" idx="10"/>
          </p:nvPr>
        </p:nvSpPr>
        <p:spPr/>
        <p:txBody>
          <a:bodyPr/>
          <a:lstStyle/>
          <a:p>
            <a:fld id="{5F33BA73-A08B-499D-B352-9F346E0EEC72}" type="datetimeFigureOut">
              <a:rPr lang="en-IN" smtClean="0"/>
              <a:t>23-04-2024</a:t>
            </a:fld>
            <a:endParaRPr lang="en-IN"/>
          </a:p>
        </p:txBody>
      </p:sp>
      <p:sp>
        <p:nvSpPr>
          <p:cNvPr id="5" name="Footer Placeholder 4">
            <a:extLst>
              <a:ext uri="{FF2B5EF4-FFF2-40B4-BE49-F238E27FC236}">
                <a16:creationId xmlns:a16="http://schemas.microsoft.com/office/drawing/2014/main" id="{3978650F-DA82-4973-83F4-C82F05C05F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D6DC12-BE15-4151-9FD2-33F5CB62D9D5}"/>
              </a:ext>
            </a:extLst>
          </p:cNvPr>
          <p:cNvSpPr>
            <a:spLocks noGrp="1"/>
          </p:cNvSpPr>
          <p:nvPr>
            <p:ph type="sldNum" sz="quarter" idx="12"/>
          </p:nvPr>
        </p:nvSpPr>
        <p:spPr/>
        <p:txBody>
          <a:bodyPr/>
          <a:lstStyle/>
          <a:p>
            <a:fld id="{3C226DB0-9D1A-4B21-B1BE-005864917E5B}" type="slidenum">
              <a:rPr lang="en-IN" smtClean="0"/>
              <a:t>‹#›</a:t>
            </a:fld>
            <a:endParaRPr lang="en-IN"/>
          </a:p>
        </p:txBody>
      </p:sp>
    </p:spTree>
    <p:extLst>
      <p:ext uri="{BB962C8B-B14F-4D97-AF65-F5344CB8AC3E}">
        <p14:creationId xmlns:p14="http://schemas.microsoft.com/office/powerpoint/2010/main" val="2461238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8EDE59-B3CC-4CF2-B4D3-0413637BF0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D955A3-D4EF-47C1-AEE5-63C9E88F36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A11376-D913-4588-BB14-77B291118A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33BA73-A08B-499D-B352-9F346E0EEC72}" type="datetimeFigureOut">
              <a:rPr lang="en-IN" smtClean="0"/>
              <a:t>23-04-2024</a:t>
            </a:fld>
            <a:endParaRPr lang="en-IN"/>
          </a:p>
        </p:txBody>
      </p:sp>
      <p:sp>
        <p:nvSpPr>
          <p:cNvPr id="5" name="Footer Placeholder 4">
            <a:extLst>
              <a:ext uri="{FF2B5EF4-FFF2-40B4-BE49-F238E27FC236}">
                <a16:creationId xmlns:a16="http://schemas.microsoft.com/office/drawing/2014/main" id="{4A1FC6FA-E02F-4677-AD89-F6A17E91A4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9C37DA3-B1E6-4F34-B339-C7427E4160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226DB0-9D1A-4B21-B1BE-005864917E5B}" type="slidenum">
              <a:rPr lang="en-IN" smtClean="0"/>
              <a:t>‹#›</a:t>
            </a:fld>
            <a:endParaRPr lang="en-IN"/>
          </a:p>
        </p:txBody>
      </p:sp>
    </p:spTree>
    <p:extLst>
      <p:ext uri="{BB962C8B-B14F-4D97-AF65-F5344CB8AC3E}">
        <p14:creationId xmlns:p14="http://schemas.microsoft.com/office/powerpoint/2010/main" val="718363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00EB9-3549-49B6-82DF-882158818321}"/>
              </a:ext>
            </a:extLst>
          </p:cNvPr>
          <p:cNvSpPr>
            <a:spLocks noGrp="1"/>
          </p:cNvSpPr>
          <p:nvPr>
            <p:ph type="ctrTitle"/>
          </p:nvPr>
        </p:nvSpPr>
        <p:spPr/>
        <p:txBody>
          <a:bodyPr/>
          <a:lstStyle/>
          <a:p>
            <a:r>
              <a:rPr lang="en-IN" b="1" dirty="0"/>
              <a:t>UNIT 3</a:t>
            </a:r>
          </a:p>
        </p:txBody>
      </p:sp>
      <p:sp>
        <p:nvSpPr>
          <p:cNvPr id="3" name="Subtitle 2">
            <a:extLst>
              <a:ext uri="{FF2B5EF4-FFF2-40B4-BE49-F238E27FC236}">
                <a16:creationId xmlns:a16="http://schemas.microsoft.com/office/drawing/2014/main" id="{4A35ED14-B6D3-4350-97FA-E71D4E4A2D0A}"/>
              </a:ext>
            </a:extLst>
          </p:cNvPr>
          <p:cNvSpPr>
            <a:spLocks noGrp="1"/>
          </p:cNvSpPr>
          <p:nvPr>
            <p:ph type="subTitle" idx="1"/>
          </p:nvPr>
        </p:nvSpPr>
        <p:spPr/>
        <p:txBody>
          <a:bodyPr>
            <a:normAutofit/>
          </a:bodyPr>
          <a:lstStyle/>
          <a:p>
            <a:r>
              <a:rPr lang="en-IN" sz="3200" b="1" dirty="0"/>
              <a:t>INTRODUCTION TO DATA STRUCTURES</a:t>
            </a:r>
          </a:p>
        </p:txBody>
      </p:sp>
    </p:spTree>
    <p:extLst>
      <p:ext uri="{BB962C8B-B14F-4D97-AF65-F5344CB8AC3E}">
        <p14:creationId xmlns:p14="http://schemas.microsoft.com/office/powerpoint/2010/main" val="3265320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5473-B0E6-41BB-A8FA-57E15F93BB46}"/>
              </a:ext>
            </a:extLst>
          </p:cNvPr>
          <p:cNvSpPr>
            <a:spLocks noGrp="1"/>
          </p:cNvSpPr>
          <p:nvPr>
            <p:ph type="title"/>
          </p:nvPr>
        </p:nvSpPr>
        <p:spPr/>
        <p:txBody>
          <a:bodyPr/>
          <a:lstStyle/>
          <a:p>
            <a:r>
              <a:rPr lang="en-US" b="0" i="0" dirty="0">
                <a:solidFill>
                  <a:srgbClr val="610B38"/>
                </a:solidFill>
                <a:effectLst/>
                <a:latin typeface="erdana"/>
              </a:rPr>
              <a:t>An Introduction to Data Structures</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615F9859-D0E6-4CD4-8911-BF6F5DE260B2}"/>
              </a:ext>
            </a:extLst>
          </p:cNvPr>
          <p:cNvSpPr>
            <a:spLocks noGrp="1"/>
          </p:cNvSpPr>
          <p:nvPr>
            <p:ph idx="1"/>
          </p:nvPr>
        </p:nvSpPr>
        <p:spPr/>
        <p:txBody>
          <a:bodyPr/>
          <a:lstStyle/>
          <a:p>
            <a:r>
              <a:rPr lang="en-US" b="0" i="0" dirty="0">
                <a:solidFill>
                  <a:srgbClr val="333333"/>
                </a:solidFill>
                <a:effectLst/>
                <a:latin typeface="inter-regular"/>
              </a:rPr>
              <a:t>Since the invention of computers, people have been using the term "</a:t>
            </a:r>
            <a:r>
              <a:rPr lang="en-US" b="1" i="0" dirty="0">
                <a:solidFill>
                  <a:srgbClr val="333333"/>
                </a:solidFill>
                <a:effectLst/>
                <a:latin typeface="inter-bold"/>
              </a:rPr>
              <a:t>Data</a:t>
            </a:r>
            <a:r>
              <a:rPr lang="en-US" b="0" i="0" dirty="0">
                <a:solidFill>
                  <a:srgbClr val="333333"/>
                </a:solidFill>
                <a:effectLst/>
                <a:latin typeface="inter-regular"/>
              </a:rPr>
              <a:t>" to refer to Computer Information, either transmitted or stored. </a:t>
            </a:r>
          </a:p>
          <a:p>
            <a:r>
              <a:rPr lang="en-US" b="0" i="0" dirty="0">
                <a:solidFill>
                  <a:srgbClr val="333333"/>
                </a:solidFill>
                <a:effectLst/>
                <a:latin typeface="inter-regular"/>
              </a:rPr>
              <a:t>However, there is data that exists in order types as well. </a:t>
            </a:r>
          </a:p>
          <a:p>
            <a:r>
              <a:rPr lang="en-US" b="0" i="0" dirty="0">
                <a:solidFill>
                  <a:srgbClr val="333333"/>
                </a:solidFill>
                <a:effectLst/>
                <a:latin typeface="inter-regular"/>
              </a:rPr>
              <a:t>Data can be numbers or texts written on a piece of paper, in the form of bits and bytes stored inside the memory of electronic devices, or facts stored within a person's mind. </a:t>
            </a:r>
          </a:p>
          <a:p>
            <a:r>
              <a:rPr lang="en-US" b="0" i="0" dirty="0">
                <a:solidFill>
                  <a:srgbClr val="333333"/>
                </a:solidFill>
                <a:effectLst/>
                <a:latin typeface="inter-regular"/>
              </a:rPr>
              <a:t>As the world started modernizing, this data became a significant aspect of everyone's day-to-day life, and various implementations allowed them to store it differently.</a:t>
            </a:r>
            <a:endParaRPr lang="en-IN" dirty="0"/>
          </a:p>
        </p:txBody>
      </p:sp>
    </p:spTree>
    <p:extLst>
      <p:ext uri="{BB962C8B-B14F-4D97-AF65-F5344CB8AC3E}">
        <p14:creationId xmlns:p14="http://schemas.microsoft.com/office/powerpoint/2010/main" val="2002815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FA6AC-F534-4E3D-97C5-59FFEA941B6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6F4347-FC05-4387-94AB-315B62EEB631}"/>
              </a:ext>
            </a:extLst>
          </p:cNvPr>
          <p:cNvSpPr>
            <a:spLocks noGrp="1"/>
          </p:cNvSpPr>
          <p:nvPr>
            <p:ph idx="1"/>
          </p:nvPr>
        </p:nvSpPr>
        <p:spPr/>
        <p:txBody>
          <a:bodyPr/>
          <a:lstStyle/>
          <a:p>
            <a:pPr algn="just"/>
            <a:r>
              <a:rPr lang="en-US" b="1" i="0" dirty="0">
                <a:solidFill>
                  <a:srgbClr val="333333"/>
                </a:solidFill>
                <a:effectLst/>
                <a:latin typeface="inter-bold"/>
              </a:rPr>
              <a:t>Data</a:t>
            </a:r>
            <a:r>
              <a:rPr lang="en-US" b="0" i="0" dirty="0">
                <a:solidFill>
                  <a:srgbClr val="333333"/>
                </a:solidFill>
                <a:effectLst/>
                <a:latin typeface="inter-regular"/>
              </a:rPr>
              <a:t> is a collection of facts and figures or a set of values or values of a specific format that refers to a single set of item values. </a:t>
            </a:r>
          </a:p>
          <a:p>
            <a:pPr algn="just"/>
            <a:r>
              <a:rPr lang="en-US" b="0" i="0" dirty="0">
                <a:solidFill>
                  <a:srgbClr val="333333"/>
                </a:solidFill>
                <a:effectLst/>
                <a:latin typeface="inter-regular"/>
              </a:rPr>
              <a:t>The data items are then classified into sub-items, which is the group of items that are not known as the simple primary form of the item.</a:t>
            </a:r>
          </a:p>
          <a:p>
            <a:pPr algn="just"/>
            <a:r>
              <a:rPr lang="en-US" b="0" i="0" dirty="0">
                <a:solidFill>
                  <a:srgbClr val="333333"/>
                </a:solidFill>
                <a:effectLst/>
                <a:latin typeface="inter-regular"/>
              </a:rPr>
              <a:t>Let us consider an example where an employee name can be broken down into three sub-items: </a:t>
            </a:r>
          </a:p>
          <a:p>
            <a:pPr algn="just"/>
            <a:r>
              <a:rPr lang="en-US" b="0" i="0" dirty="0">
                <a:solidFill>
                  <a:srgbClr val="333333"/>
                </a:solidFill>
                <a:effectLst/>
                <a:latin typeface="inter-regular"/>
              </a:rPr>
              <a:t>First, Middle, and Last. However, an ID assigned to an employee will generally be considered a single item.</a:t>
            </a:r>
          </a:p>
          <a:p>
            <a:endParaRPr lang="en-IN" dirty="0"/>
          </a:p>
        </p:txBody>
      </p:sp>
    </p:spTree>
    <p:extLst>
      <p:ext uri="{BB962C8B-B14F-4D97-AF65-F5344CB8AC3E}">
        <p14:creationId xmlns:p14="http://schemas.microsoft.com/office/powerpoint/2010/main" val="2968794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F7F0D-A61C-46F0-92EF-9D18DCD2F16C}"/>
              </a:ext>
            </a:extLst>
          </p:cNvPr>
          <p:cNvSpPr>
            <a:spLocks noGrp="1"/>
          </p:cNvSpPr>
          <p:nvPr>
            <p:ph type="title"/>
          </p:nvPr>
        </p:nvSpPr>
        <p:spPr/>
        <p:txBody>
          <a:bodyPr>
            <a:normAutofit/>
          </a:bodyPr>
          <a:lstStyle/>
          <a:p>
            <a:r>
              <a:rPr lang="en-US" sz="2400" b="0" i="0" dirty="0">
                <a:solidFill>
                  <a:srgbClr val="333333"/>
                </a:solidFill>
                <a:effectLst/>
                <a:latin typeface="inter-regular"/>
              </a:rPr>
              <a:t>In the example mentioned above, the items such as ID, Age, Gender, First, Middle, Last, Street, Locality, etc., are elementary data items. In contrast, the Name and the Address are group data items.</a:t>
            </a:r>
            <a:endParaRPr lang="en-IN" sz="2400" dirty="0"/>
          </a:p>
        </p:txBody>
      </p:sp>
      <p:pic>
        <p:nvPicPr>
          <p:cNvPr id="5" name="Content Placeholder 4">
            <a:extLst>
              <a:ext uri="{FF2B5EF4-FFF2-40B4-BE49-F238E27FC236}">
                <a16:creationId xmlns:a16="http://schemas.microsoft.com/office/drawing/2014/main" id="{4C168262-2054-4F39-96B4-93D994B8F0D9}"/>
              </a:ext>
            </a:extLst>
          </p:cNvPr>
          <p:cNvPicPr>
            <a:picLocks noGrp="1" noChangeAspect="1"/>
          </p:cNvPicPr>
          <p:nvPr>
            <p:ph idx="1"/>
          </p:nvPr>
        </p:nvPicPr>
        <p:blipFill>
          <a:blip r:embed="rId2"/>
          <a:stretch>
            <a:fillRect/>
          </a:stretch>
        </p:blipFill>
        <p:spPr>
          <a:xfrm>
            <a:off x="1645920" y="1799924"/>
            <a:ext cx="7739549" cy="3614317"/>
          </a:xfrm>
        </p:spPr>
      </p:pic>
    </p:spTree>
    <p:extLst>
      <p:ext uri="{BB962C8B-B14F-4D97-AF65-F5344CB8AC3E}">
        <p14:creationId xmlns:p14="http://schemas.microsoft.com/office/powerpoint/2010/main" val="787232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0946B-7EAC-4631-90F8-506DD336ECD1}"/>
              </a:ext>
            </a:extLst>
          </p:cNvPr>
          <p:cNvSpPr>
            <a:spLocks noGrp="1"/>
          </p:cNvSpPr>
          <p:nvPr>
            <p:ph type="title"/>
          </p:nvPr>
        </p:nvSpPr>
        <p:spPr/>
        <p:txBody>
          <a:bodyPr/>
          <a:lstStyle/>
          <a:p>
            <a:r>
              <a:rPr lang="en-US" b="0" i="0" dirty="0">
                <a:solidFill>
                  <a:srgbClr val="610B38"/>
                </a:solidFill>
                <a:effectLst/>
                <a:latin typeface="erdana"/>
              </a:rPr>
              <a:t>What is Data Structure?</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2A35FB15-C329-4C80-BA84-AA983ECF7911}"/>
              </a:ext>
            </a:extLst>
          </p:cNvPr>
          <p:cNvSpPr>
            <a:spLocks noGrp="1"/>
          </p:cNvSpPr>
          <p:nvPr>
            <p:ph idx="1"/>
          </p:nvPr>
        </p:nvSpPr>
        <p:spPr/>
        <p:txBody>
          <a:bodyPr/>
          <a:lstStyle/>
          <a:p>
            <a:pPr algn="just"/>
            <a:r>
              <a:rPr lang="en-US" b="1" i="0" dirty="0">
                <a:solidFill>
                  <a:srgbClr val="333333"/>
                </a:solidFill>
                <a:effectLst/>
                <a:latin typeface="inter-bold"/>
              </a:rPr>
              <a:t>Data Structure</a:t>
            </a:r>
            <a:r>
              <a:rPr lang="en-US" b="0" i="0" dirty="0">
                <a:solidFill>
                  <a:srgbClr val="333333"/>
                </a:solidFill>
                <a:effectLst/>
                <a:latin typeface="inter-regular"/>
              </a:rPr>
              <a:t> is a branch of Computer Science. The study of data structure allows us to understand the organization of data and the management of the data flow in order to increase the efficiency of any process or program. </a:t>
            </a:r>
          </a:p>
          <a:p>
            <a:pPr algn="just"/>
            <a:r>
              <a:rPr lang="en-US" b="0" i="0" dirty="0">
                <a:solidFill>
                  <a:srgbClr val="333333"/>
                </a:solidFill>
                <a:effectLst/>
                <a:latin typeface="inter-regular"/>
              </a:rPr>
              <a:t>Data Structure is a particular way of storing and organizing data in the memory of the computer so that these data can easily be retrieved and efficiently utilized in the future when required. </a:t>
            </a:r>
          </a:p>
          <a:p>
            <a:pPr algn="just"/>
            <a:r>
              <a:rPr lang="en-US" b="0" i="0" dirty="0">
                <a:solidFill>
                  <a:srgbClr val="333333"/>
                </a:solidFill>
                <a:effectLst/>
                <a:latin typeface="inter-regular"/>
              </a:rPr>
              <a:t>The data can be managed in various ways, like the logical or mathematical model for a specific organization of data is known as a data structure.</a:t>
            </a:r>
          </a:p>
          <a:p>
            <a:endParaRPr lang="en-IN" dirty="0"/>
          </a:p>
        </p:txBody>
      </p:sp>
    </p:spTree>
    <p:extLst>
      <p:ext uri="{BB962C8B-B14F-4D97-AF65-F5344CB8AC3E}">
        <p14:creationId xmlns:p14="http://schemas.microsoft.com/office/powerpoint/2010/main" val="3517332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B1C45-C0F5-413A-A7B3-C8407903F82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798FC1D-9EEF-4CD4-897C-5F9AFD3BB1BF}"/>
              </a:ext>
            </a:extLst>
          </p:cNvPr>
          <p:cNvSpPr>
            <a:spLocks noGrp="1"/>
          </p:cNvSpPr>
          <p:nvPr>
            <p:ph idx="1"/>
          </p:nvPr>
        </p:nvSpPr>
        <p:spPr/>
        <p:txBody>
          <a:bodyPr/>
          <a:lstStyle/>
          <a:p>
            <a:pPr algn="just"/>
            <a:r>
              <a:rPr lang="en-US" b="0" i="0" dirty="0">
                <a:solidFill>
                  <a:srgbClr val="333333"/>
                </a:solidFill>
                <a:effectLst/>
                <a:latin typeface="inter-regular"/>
              </a:rPr>
              <a:t>Some examples of Data Structures are Arrays, Linked Lists, Stack, Queue, Trees, etc. Data Structures are widely used in almost every aspect of Computer Science, i.e., Compiler Design, Operating Systems, Graphics, Artificial Intelligence, and many more.</a:t>
            </a:r>
          </a:p>
          <a:p>
            <a:pPr algn="just"/>
            <a:r>
              <a:rPr lang="en-US" b="0" i="0" dirty="0">
                <a:solidFill>
                  <a:srgbClr val="333333"/>
                </a:solidFill>
                <a:effectLst/>
                <a:latin typeface="inter-regular"/>
              </a:rPr>
              <a:t>Data Structures are the main part of many Computer Science Algorithms as they allow the programmers to manage the data in an effective way. It plays a crucial role in improving the performance of a program or software, as the main objective of the software is to store and retrieve the user's data as fast as possible.</a:t>
            </a:r>
          </a:p>
          <a:p>
            <a:endParaRPr lang="en-IN" dirty="0"/>
          </a:p>
        </p:txBody>
      </p:sp>
    </p:spTree>
    <p:extLst>
      <p:ext uri="{BB962C8B-B14F-4D97-AF65-F5344CB8AC3E}">
        <p14:creationId xmlns:p14="http://schemas.microsoft.com/office/powerpoint/2010/main" val="3639936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E5CE7-28ED-415E-BC7B-D4F4D828B2D5}"/>
              </a:ext>
            </a:extLst>
          </p:cNvPr>
          <p:cNvSpPr>
            <a:spLocks noGrp="1"/>
          </p:cNvSpPr>
          <p:nvPr>
            <p:ph type="title"/>
          </p:nvPr>
        </p:nvSpPr>
        <p:spPr/>
        <p:txBody>
          <a:bodyPr>
            <a:normAutofit fontScale="90000"/>
          </a:bodyPr>
          <a:lstStyle/>
          <a:p>
            <a:r>
              <a:rPr lang="en-US" b="0" i="0" dirty="0">
                <a:solidFill>
                  <a:srgbClr val="610B38"/>
                </a:solidFill>
                <a:effectLst/>
                <a:latin typeface="erdana"/>
              </a:rPr>
              <a:t>Basic Terminologies related to Data Structures</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C12D6859-222D-4E4C-8533-FBE5CA442F31}"/>
              </a:ext>
            </a:extLst>
          </p:cNvPr>
          <p:cNvSpPr>
            <a:spLocks noGrp="1"/>
          </p:cNvSpPr>
          <p:nvPr>
            <p:ph idx="1"/>
          </p:nvPr>
        </p:nvSpPr>
        <p:spPr/>
        <p:txBody>
          <a:bodyPr>
            <a:normAutofit fontScale="85000" lnSpcReduction="10000"/>
          </a:bodyPr>
          <a:lstStyle/>
          <a:p>
            <a:pPr algn="just"/>
            <a:r>
              <a:rPr lang="en-US" b="0" i="0" dirty="0">
                <a:solidFill>
                  <a:srgbClr val="333333"/>
                </a:solidFill>
                <a:effectLst/>
                <a:latin typeface="inter-regular"/>
              </a:rPr>
              <a:t>The following are some fundamental terminologies used whenever the data structures are involved:</a:t>
            </a:r>
          </a:p>
          <a:p>
            <a:pPr algn="just">
              <a:buFont typeface="+mj-lt"/>
              <a:buAutoNum type="arabicPeriod"/>
            </a:pPr>
            <a:r>
              <a:rPr lang="en-US" b="1" i="0" dirty="0">
                <a:solidFill>
                  <a:srgbClr val="000000"/>
                </a:solidFill>
                <a:effectLst/>
                <a:latin typeface="inter-bold"/>
              </a:rPr>
              <a:t>Data:</a:t>
            </a:r>
            <a:r>
              <a:rPr lang="en-US" b="0" i="0" dirty="0">
                <a:solidFill>
                  <a:srgbClr val="000000"/>
                </a:solidFill>
                <a:effectLst/>
                <a:latin typeface="inter-regular"/>
              </a:rPr>
              <a:t> We can define data as an elementary value or a collection of values. For example, the Employee's name and ID are the data related to the Employee.</a:t>
            </a:r>
          </a:p>
          <a:p>
            <a:pPr algn="just">
              <a:buFont typeface="+mj-lt"/>
              <a:buAutoNum type="arabicPeriod"/>
            </a:pPr>
            <a:r>
              <a:rPr lang="en-US" b="1" i="0" dirty="0">
                <a:solidFill>
                  <a:srgbClr val="000000"/>
                </a:solidFill>
                <a:effectLst/>
                <a:latin typeface="inter-bold"/>
              </a:rPr>
              <a:t>Data Items:</a:t>
            </a:r>
            <a:r>
              <a:rPr lang="en-US" b="0" i="0" dirty="0">
                <a:solidFill>
                  <a:srgbClr val="000000"/>
                </a:solidFill>
                <a:effectLst/>
                <a:latin typeface="inter-regular"/>
              </a:rPr>
              <a:t> A Single unit of value is known as Data Item.</a:t>
            </a:r>
          </a:p>
          <a:p>
            <a:pPr algn="just">
              <a:buFont typeface="+mj-lt"/>
              <a:buAutoNum type="arabicPeriod"/>
            </a:pPr>
            <a:r>
              <a:rPr lang="en-US" b="1" i="0" dirty="0">
                <a:solidFill>
                  <a:srgbClr val="000000"/>
                </a:solidFill>
                <a:effectLst/>
                <a:latin typeface="inter-bold"/>
              </a:rPr>
              <a:t>Group Items:</a:t>
            </a:r>
            <a:r>
              <a:rPr lang="en-US" b="0" i="0" dirty="0">
                <a:solidFill>
                  <a:srgbClr val="000000"/>
                </a:solidFill>
                <a:effectLst/>
                <a:latin typeface="inter-regular"/>
              </a:rPr>
              <a:t> Data Items that have subordinate data items are known as Group Items. For example, an employee's name can have a first, middle, and last name.</a:t>
            </a:r>
          </a:p>
          <a:p>
            <a:pPr algn="just">
              <a:buFont typeface="+mj-lt"/>
              <a:buAutoNum type="arabicPeriod"/>
            </a:pPr>
            <a:r>
              <a:rPr lang="en-US" b="1" i="0" dirty="0">
                <a:solidFill>
                  <a:srgbClr val="000000"/>
                </a:solidFill>
                <a:effectLst/>
                <a:latin typeface="inter-bold"/>
              </a:rPr>
              <a:t>Elementary Items:</a:t>
            </a:r>
            <a:r>
              <a:rPr lang="en-US" b="0" i="0" dirty="0">
                <a:solidFill>
                  <a:srgbClr val="000000"/>
                </a:solidFill>
                <a:effectLst/>
                <a:latin typeface="inter-regular"/>
              </a:rPr>
              <a:t> Data Items that are unable to divide into sub-items are known as Elementary Items. For example, the ID of an Employee.</a:t>
            </a:r>
          </a:p>
          <a:p>
            <a:pPr algn="just">
              <a:buFont typeface="+mj-lt"/>
              <a:buAutoNum type="arabicPeriod"/>
            </a:pPr>
            <a:r>
              <a:rPr lang="en-US" b="1" i="0" dirty="0">
                <a:solidFill>
                  <a:srgbClr val="000000"/>
                </a:solidFill>
                <a:effectLst/>
                <a:latin typeface="inter-bold"/>
              </a:rPr>
              <a:t>Entity and Attribute:</a:t>
            </a:r>
            <a:r>
              <a:rPr lang="en-US" b="0" i="0" dirty="0">
                <a:solidFill>
                  <a:srgbClr val="000000"/>
                </a:solidFill>
                <a:effectLst/>
                <a:latin typeface="inter-regular"/>
              </a:rPr>
              <a:t> A class of certain objects is represented by an Entity. It consists of different Attributes. Each Attribute symbolizes the specific property of that Entity. For example,</a:t>
            </a:r>
          </a:p>
          <a:p>
            <a:endParaRPr lang="en-IN" dirty="0"/>
          </a:p>
        </p:txBody>
      </p:sp>
    </p:spTree>
    <p:extLst>
      <p:ext uri="{BB962C8B-B14F-4D97-AF65-F5344CB8AC3E}">
        <p14:creationId xmlns:p14="http://schemas.microsoft.com/office/powerpoint/2010/main" val="2256203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5CEBF-B124-4800-8506-C6BFAB1A7BF6}"/>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4FDF35C2-ED1D-4CCA-A2B7-8A34D3365CEC}"/>
              </a:ext>
            </a:extLst>
          </p:cNvPr>
          <p:cNvGraphicFramePr>
            <a:graphicFrameLocks noGrp="1"/>
          </p:cNvGraphicFramePr>
          <p:nvPr>
            <p:ph idx="1"/>
            <p:extLst>
              <p:ext uri="{D42A27DB-BD31-4B8C-83A1-F6EECF244321}">
                <p14:modId xmlns:p14="http://schemas.microsoft.com/office/powerpoint/2010/main" val="3979286382"/>
              </p:ext>
            </p:extLst>
          </p:nvPr>
        </p:nvGraphicFramePr>
        <p:xfrm>
          <a:off x="2348564" y="2055814"/>
          <a:ext cx="6063915" cy="1688414"/>
        </p:xfrm>
        <a:graphic>
          <a:graphicData uri="http://schemas.openxmlformats.org/drawingml/2006/table">
            <a:tbl>
              <a:tblPr/>
              <a:tblGrid>
                <a:gridCol w="1212783">
                  <a:extLst>
                    <a:ext uri="{9D8B030D-6E8A-4147-A177-3AD203B41FA5}">
                      <a16:colId xmlns:a16="http://schemas.microsoft.com/office/drawing/2014/main" val="348841917"/>
                    </a:ext>
                  </a:extLst>
                </a:gridCol>
                <a:gridCol w="1212783">
                  <a:extLst>
                    <a:ext uri="{9D8B030D-6E8A-4147-A177-3AD203B41FA5}">
                      <a16:colId xmlns:a16="http://schemas.microsoft.com/office/drawing/2014/main" val="1553661679"/>
                    </a:ext>
                  </a:extLst>
                </a:gridCol>
                <a:gridCol w="1212783">
                  <a:extLst>
                    <a:ext uri="{9D8B030D-6E8A-4147-A177-3AD203B41FA5}">
                      <a16:colId xmlns:a16="http://schemas.microsoft.com/office/drawing/2014/main" val="4045483680"/>
                    </a:ext>
                  </a:extLst>
                </a:gridCol>
                <a:gridCol w="1212783">
                  <a:extLst>
                    <a:ext uri="{9D8B030D-6E8A-4147-A177-3AD203B41FA5}">
                      <a16:colId xmlns:a16="http://schemas.microsoft.com/office/drawing/2014/main" val="1723007407"/>
                    </a:ext>
                  </a:extLst>
                </a:gridCol>
                <a:gridCol w="1212783">
                  <a:extLst>
                    <a:ext uri="{9D8B030D-6E8A-4147-A177-3AD203B41FA5}">
                      <a16:colId xmlns:a16="http://schemas.microsoft.com/office/drawing/2014/main" val="2030239406"/>
                    </a:ext>
                  </a:extLst>
                </a:gridCol>
              </a:tblGrid>
              <a:tr h="622998">
                <a:tc>
                  <a:txBody>
                    <a:bodyPr/>
                    <a:lstStyle/>
                    <a:p>
                      <a:pPr algn="l" fontAlgn="t"/>
                      <a:r>
                        <a:rPr lang="en-IN">
                          <a:solidFill>
                            <a:srgbClr val="000000"/>
                          </a:solidFill>
                          <a:effectLst/>
                          <a:latin typeface="times new roman" panose="02020603050405020304" pitchFamily="18" charset="0"/>
                        </a:rPr>
                        <a:t>Attributes</a:t>
                      </a:r>
                    </a:p>
                  </a:txBody>
                  <a:tcPr marL="76200" marR="76200" marT="76200" marB="76200">
                    <a:lnL w="6350" cap="flat" cmpd="sng" algn="ctr">
                      <a:solidFill>
                        <a:srgbClr val="00B7D6"/>
                      </a:solidFill>
                      <a:prstDash val="solid"/>
                      <a:round/>
                      <a:headEnd type="none" w="med" len="med"/>
                      <a:tailEnd type="none" w="med" len="med"/>
                    </a:lnL>
                    <a:lnR w="6350" cap="flat" cmpd="sng" algn="ctr">
                      <a:solidFill>
                        <a:srgbClr val="00B7D6"/>
                      </a:solidFill>
                      <a:prstDash val="solid"/>
                      <a:round/>
                      <a:headEnd type="none" w="med" len="med"/>
                      <a:tailEnd type="none" w="med" len="med"/>
                    </a:lnR>
                    <a:lnT w="6350" cap="flat" cmpd="sng" algn="ctr">
                      <a:solidFill>
                        <a:srgbClr val="00B7D6"/>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ID</a:t>
                      </a:r>
                    </a:p>
                  </a:txBody>
                  <a:tcPr marL="76200" marR="76200" marT="76200" marB="76200">
                    <a:lnL w="6350" cap="flat" cmpd="sng" algn="ctr">
                      <a:solidFill>
                        <a:srgbClr val="00B7D6"/>
                      </a:solidFill>
                      <a:prstDash val="solid"/>
                      <a:round/>
                      <a:headEnd type="none" w="med" len="med"/>
                      <a:tailEnd type="none" w="med" len="med"/>
                    </a:lnL>
                    <a:lnR w="6350" cap="flat" cmpd="sng" algn="ctr">
                      <a:solidFill>
                        <a:srgbClr val="00B7D6"/>
                      </a:solidFill>
                      <a:prstDash val="solid"/>
                      <a:round/>
                      <a:headEnd type="none" w="med" len="med"/>
                      <a:tailEnd type="none" w="med" len="med"/>
                    </a:lnR>
                    <a:lnT w="6350" cap="flat" cmpd="sng" algn="ctr">
                      <a:solidFill>
                        <a:srgbClr val="00B7D6"/>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dirty="0">
                          <a:solidFill>
                            <a:srgbClr val="000000"/>
                          </a:solidFill>
                          <a:effectLst/>
                          <a:latin typeface="times new roman" panose="02020603050405020304" pitchFamily="18" charset="0"/>
                        </a:rPr>
                        <a:t>Name</a:t>
                      </a:r>
                    </a:p>
                  </a:txBody>
                  <a:tcPr marL="76200" marR="76200" marT="76200" marB="76200">
                    <a:lnL w="6350" cap="flat" cmpd="sng" algn="ctr">
                      <a:solidFill>
                        <a:srgbClr val="00B7D6"/>
                      </a:solidFill>
                      <a:prstDash val="solid"/>
                      <a:round/>
                      <a:headEnd type="none" w="med" len="med"/>
                      <a:tailEnd type="none" w="med" len="med"/>
                    </a:lnL>
                    <a:lnR w="6350" cap="flat" cmpd="sng" algn="ctr">
                      <a:solidFill>
                        <a:srgbClr val="00B7D6"/>
                      </a:solidFill>
                      <a:prstDash val="solid"/>
                      <a:round/>
                      <a:headEnd type="none" w="med" len="med"/>
                      <a:tailEnd type="none" w="med" len="med"/>
                    </a:lnR>
                    <a:lnT w="6350" cap="flat" cmpd="sng" algn="ctr">
                      <a:solidFill>
                        <a:srgbClr val="00B7D6"/>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Gender</a:t>
                      </a:r>
                    </a:p>
                  </a:txBody>
                  <a:tcPr marL="76200" marR="76200" marT="76200" marB="76200">
                    <a:lnL w="6350" cap="flat" cmpd="sng" algn="ctr">
                      <a:solidFill>
                        <a:srgbClr val="00B7D6"/>
                      </a:solidFill>
                      <a:prstDash val="solid"/>
                      <a:round/>
                      <a:headEnd type="none" w="med" len="med"/>
                      <a:tailEnd type="none" w="med" len="med"/>
                    </a:lnL>
                    <a:lnR w="6350" cap="flat" cmpd="sng" algn="ctr">
                      <a:solidFill>
                        <a:srgbClr val="00B7D6"/>
                      </a:solidFill>
                      <a:prstDash val="solid"/>
                      <a:round/>
                      <a:headEnd type="none" w="med" len="med"/>
                      <a:tailEnd type="none" w="med" len="med"/>
                    </a:lnR>
                    <a:lnT w="6350" cap="flat" cmpd="sng" algn="ctr">
                      <a:solidFill>
                        <a:srgbClr val="00B7D6"/>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Job Title</a:t>
                      </a:r>
                    </a:p>
                  </a:txBody>
                  <a:tcPr marL="76200" marR="76200" marT="76200" marB="76200">
                    <a:lnL w="6350" cap="flat" cmpd="sng" algn="ctr">
                      <a:solidFill>
                        <a:srgbClr val="00B7D6"/>
                      </a:solidFill>
                      <a:prstDash val="solid"/>
                      <a:round/>
                      <a:headEnd type="none" w="med" len="med"/>
                      <a:tailEnd type="none" w="med" len="med"/>
                    </a:lnL>
                    <a:lnR w="6350" cap="flat" cmpd="sng" algn="ctr">
                      <a:solidFill>
                        <a:srgbClr val="00B7D6"/>
                      </a:solidFill>
                      <a:prstDash val="solid"/>
                      <a:round/>
                      <a:headEnd type="none" w="med" len="med"/>
                      <a:tailEnd type="none" w="med" len="med"/>
                    </a:lnR>
                    <a:lnT w="6350" cap="flat" cmpd="sng" algn="ctr">
                      <a:solidFill>
                        <a:srgbClr val="00B7D6"/>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38097306"/>
                  </a:ext>
                </a:extLst>
              </a:tr>
              <a:tr h="1065416">
                <a:tc>
                  <a:txBody>
                    <a:bodyPr/>
                    <a:lstStyle/>
                    <a:p>
                      <a:pPr algn="just" fontAlgn="t"/>
                      <a:r>
                        <a:rPr lang="en-IN" b="1">
                          <a:solidFill>
                            <a:srgbClr val="333333"/>
                          </a:solidFill>
                          <a:effectLst/>
                          <a:latin typeface="inter-bold"/>
                        </a:rPr>
                        <a:t>Values</a:t>
                      </a:r>
                      <a:endParaRPr lang="en-IN">
                        <a:solidFill>
                          <a:srgbClr val="333333"/>
                        </a:solidFill>
                        <a:effectLst/>
                        <a:latin typeface="inter-regular"/>
                      </a:endParaRP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1234</a:t>
                      </a: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Stacey M. Hill</a:t>
                      </a: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Female</a:t>
                      </a: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Software Developer</a:t>
                      </a: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391530802"/>
                  </a:ext>
                </a:extLst>
              </a:tr>
            </a:tbl>
          </a:graphicData>
        </a:graphic>
      </p:graphicFrame>
      <p:sp>
        <p:nvSpPr>
          <p:cNvPr id="5" name="Rectangle 1">
            <a:extLst>
              <a:ext uri="{FF2B5EF4-FFF2-40B4-BE49-F238E27FC236}">
                <a16:creationId xmlns:a16="http://schemas.microsoft.com/office/drawing/2014/main" id="{49ACD07E-C82D-493C-A67F-3E365BC20870}"/>
              </a:ext>
            </a:extLst>
          </p:cNvPr>
          <p:cNvSpPr>
            <a:spLocks noChangeArrowheads="1"/>
          </p:cNvSpPr>
          <p:nvPr/>
        </p:nvSpPr>
        <p:spPr bwMode="auto">
          <a:xfrm>
            <a:off x="356134" y="3877096"/>
            <a:ext cx="11749238" cy="13849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333333"/>
                </a:solidFill>
                <a:effectLst/>
                <a:latin typeface="inter-regular"/>
              </a:rPr>
              <a:t>Entities with similar attributes form an </a:t>
            </a:r>
            <a:r>
              <a:rPr kumimoji="0" lang="en-US" altLang="en-US" sz="2800" b="1" i="0" u="none" strike="noStrike" cap="none" normalizeH="0" baseline="0" dirty="0">
                <a:ln>
                  <a:noFill/>
                </a:ln>
                <a:solidFill>
                  <a:srgbClr val="333333"/>
                </a:solidFill>
                <a:effectLst/>
                <a:latin typeface="inter-bold"/>
              </a:rPr>
              <a:t>Entity Set</a:t>
            </a:r>
            <a:r>
              <a:rPr kumimoji="0" lang="en-US" altLang="en-US" sz="2800" b="0" i="0" u="none" strike="noStrike" cap="none" normalizeH="0" baseline="0" dirty="0">
                <a:ln>
                  <a:noFill/>
                </a:ln>
                <a:solidFill>
                  <a:srgbClr val="333333"/>
                </a:solidFill>
                <a:effectLst/>
                <a:latin typeface="inter-regular"/>
              </a:rPr>
              <a:t>. Each attribute of an entity set has a range of values, the set of all possible values that could be assigned to the specific attribute.</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5417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33608-2A05-4859-876D-064B12FE13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ADD108B-7422-45C4-AE0F-1E129C7D3D99}"/>
              </a:ext>
            </a:extLst>
          </p:cNvPr>
          <p:cNvSpPr>
            <a:spLocks noGrp="1"/>
          </p:cNvSpPr>
          <p:nvPr>
            <p:ph idx="1"/>
          </p:nvPr>
        </p:nvSpPr>
        <p:spPr/>
        <p:txBody>
          <a:bodyPr>
            <a:normAutofit lnSpcReduction="10000"/>
          </a:bodyPr>
          <a:lstStyle/>
          <a:p>
            <a:pPr algn="just"/>
            <a:r>
              <a:rPr lang="en-US" b="0" i="0" dirty="0">
                <a:solidFill>
                  <a:srgbClr val="333333"/>
                </a:solidFill>
                <a:effectLst/>
                <a:latin typeface="inter-regular"/>
              </a:rPr>
              <a:t>The term "information" is sometimes utilized for data with given attributes of meaningful or processed data.</a:t>
            </a:r>
          </a:p>
          <a:p>
            <a:pPr algn="just">
              <a:buFont typeface="+mj-lt"/>
              <a:buAutoNum type="arabicPeriod"/>
            </a:pPr>
            <a:r>
              <a:rPr lang="en-US" b="1" i="0" dirty="0">
                <a:solidFill>
                  <a:srgbClr val="000000"/>
                </a:solidFill>
                <a:effectLst/>
                <a:latin typeface="inter-bold"/>
              </a:rPr>
              <a:t>Field:</a:t>
            </a:r>
            <a:r>
              <a:rPr lang="en-US" b="0" i="0" dirty="0">
                <a:solidFill>
                  <a:srgbClr val="000000"/>
                </a:solidFill>
                <a:effectLst/>
                <a:latin typeface="inter-regular"/>
              </a:rPr>
              <a:t> A single elementary unit of information symbolizing the Attribute of an Entity is known as Field.</a:t>
            </a:r>
          </a:p>
          <a:p>
            <a:pPr algn="just">
              <a:buFont typeface="+mj-lt"/>
              <a:buAutoNum type="arabicPeriod"/>
            </a:pPr>
            <a:r>
              <a:rPr lang="en-US" b="1" i="0" dirty="0">
                <a:solidFill>
                  <a:srgbClr val="000000"/>
                </a:solidFill>
                <a:effectLst/>
                <a:latin typeface="inter-bold"/>
              </a:rPr>
              <a:t>Record:</a:t>
            </a:r>
            <a:r>
              <a:rPr lang="en-US" b="0" i="0" dirty="0">
                <a:solidFill>
                  <a:srgbClr val="000000"/>
                </a:solidFill>
                <a:effectLst/>
                <a:latin typeface="inter-regular"/>
              </a:rPr>
              <a:t> A collection of different data items are known as a Record. For example, if we talk about the employee entity, then its name, id, address, and job title can be grouped to form the record for the employee.</a:t>
            </a:r>
          </a:p>
          <a:p>
            <a:pPr algn="just">
              <a:buFont typeface="+mj-lt"/>
              <a:buAutoNum type="arabicPeriod"/>
            </a:pPr>
            <a:r>
              <a:rPr lang="en-US" b="1" i="0" dirty="0">
                <a:solidFill>
                  <a:srgbClr val="000000"/>
                </a:solidFill>
                <a:effectLst/>
                <a:latin typeface="inter-bold"/>
              </a:rPr>
              <a:t>File:</a:t>
            </a:r>
            <a:r>
              <a:rPr lang="en-US" b="0" i="0" dirty="0">
                <a:solidFill>
                  <a:srgbClr val="000000"/>
                </a:solidFill>
                <a:effectLst/>
                <a:latin typeface="inter-regular"/>
              </a:rPr>
              <a:t> A collection of different Records of one entity type is known as a File. For example, if there are 100 employees, there will be 25 records in the related file containing data about each employee.</a:t>
            </a:r>
          </a:p>
          <a:p>
            <a:endParaRPr lang="en-IN" dirty="0"/>
          </a:p>
        </p:txBody>
      </p:sp>
    </p:spTree>
    <p:extLst>
      <p:ext uri="{BB962C8B-B14F-4D97-AF65-F5344CB8AC3E}">
        <p14:creationId xmlns:p14="http://schemas.microsoft.com/office/powerpoint/2010/main" val="1422021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EDBA3-2BFA-4689-BCC9-A93B4172DABA}"/>
              </a:ext>
            </a:extLst>
          </p:cNvPr>
          <p:cNvSpPr>
            <a:spLocks noGrp="1"/>
          </p:cNvSpPr>
          <p:nvPr>
            <p:ph type="title"/>
          </p:nvPr>
        </p:nvSpPr>
        <p:spPr/>
        <p:txBody>
          <a:bodyPr/>
          <a:lstStyle/>
          <a:p>
            <a:r>
              <a:rPr lang="en-US" b="0" i="0" dirty="0">
                <a:solidFill>
                  <a:srgbClr val="610B38"/>
                </a:solidFill>
                <a:effectLst/>
                <a:latin typeface="erdana"/>
              </a:rPr>
              <a:t>Understanding the Need for Data Structures</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9B3F5C99-A081-4444-A397-6A8F5AF8EED2}"/>
              </a:ext>
            </a:extLst>
          </p:cNvPr>
          <p:cNvSpPr>
            <a:spLocks noGrp="1"/>
          </p:cNvSpPr>
          <p:nvPr>
            <p:ph idx="1"/>
          </p:nvPr>
        </p:nvSpPr>
        <p:spPr/>
        <p:txBody>
          <a:bodyPr/>
          <a:lstStyle/>
          <a:p>
            <a:pPr algn="just"/>
            <a:r>
              <a:rPr lang="en-US" b="0" i="0" dirty="0">
                <a:solidFill>
                  <a:srgbClr val="333333"/>
                </a:solidFill>
                <a:effectLst/>
                <a:latin typeface="inter-regular"/>
              </a:rPr>
              <a:t>As applications are becoming more complex and the amount of data is increasing every day, which may lead to problems with data searching, processing speed, multiple requests handling, and many more. </a:t>
            </a:r>
          </a:p>
          <a:p>
            <a:pPr algn="just"/>
            <a:r>
              <a:rPr lang="en-US" b="0" i="0" dirty="0">
                <a:solidFill>
                  <a:srgbClr val="333333"/>
                </a:solidFill>
                <a:effectLst/>
                <a:latin typeface="inter-regular"/>
              </a:rPr>
              <a:t>Data Structures support different methods to organize, manage, and store data efficiently. With the help of Data Structures, we can easily traverse the data items. </a:t>
            </a:r>
          </a:p>
          <a:p>
            <a:pPr algn="just"/>
            <a:r>
              <a:rPr lang="en-US" b="0" i="0" dirty="0">
                <a:solidFill>
                  <a:srgbClr val="333333"/>
                </a:solidFill>
                <a:effectLst/>
                <a:latin typeface="inter-regular"/>
              </a:rPr>
              <a:t>Data Structures provide Efficiency, Reusability, and Abstraction.</a:t>
            </a:r>
          </a:p>
          <a:p>
            <a:endParaRPr lang="en-IN" dirty="0"/>
          </a:p>
        </p:txBody>
      </p:sp>
    </p:spTree>
    <p:extLst>
      <p:ext uri="{BB962C8B-B14F-4D97-AF65-F5344CB8AC3E}">
        <p14:creationId xmlns:p14="http://schemas.microsoft.com/office/powerpoint/2010/main" val="3066661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0D8AB-4AD5-4F5C-807F-943D9F07397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27EDBD-08C9-41A0-B487-17BDBC94B647}"/>
              </a:ext>
            </a:extLst>
          </p:cNvPr>
          <p:cNvSpPr>
            <a:spLocks noGrp="1"/>
          </p:cNvSpPr>
          <p:nvPr>
            <p:ph idx="1"/>
          </p:nvPr>
        </p:nvSpPr>
        <p:spPr/>
        <p:txBody>
          <a:bodyPr/>
          <a:lstStyle/>
          <a:p>
            <a:pPr algn="just"/>
            <a:r>
              <a:rPr lang="en-US" b="0" i="0" dirty="0">
                <a:solidFill>
                  <a:srgbClr val="610B4B"/>
                </a:solidFill>
                <a:effectLst/>
                <a:latin typeface="erdana"/>
              </a:rPr>
              <a:t>Why should we learn Data Structures?</a:t>
            </a:r>
          </a:p>
          <a:p>
            <a:pPr algn="just">
              <a:buFont typeface="+mj-lt"/>
              <a:buAutoNum type="arabicPeriod"/>
            </a:pPr>
            <a:r>
              <a:rPr lang="en-US" b="0" i="0" dirty="0">
                <a:solidFill>
                  <a:srgbClr val="000000"/>
                </a:solidFill>
                <a:effectLst/>
                <a:latin typeface="inter-regular"/>
              </a:rPr>
              <a:t>Data Structures and Algorithms are two of the key aspects of Computer Science.</a:t>
            </a:r>
          </a:p>
          <a:p>
            <a:pPr algn="just">
              <a:buFont typeface="+mj-lt"/>
              <a:buAutoNum type="arabicPeriod"/>
            </a:pPr>
            <a:r>
              <a:rPr lang="en-US" b="0" i="0" dirty="0">
                <a:solidFill>
                  <a:srgbClr val="000000"/>
                </a:solidFill>
                <a:effectLst/>
                <a:latin typeface="inter-regular"/>
              </a:rPr>
              <a:t>Data Structures allow us to organize and store data, whereas Algorithms allow us to process that data meaningfully.</a:t>
            </a:r>
          </a:p>
          <a:p>
            <a:pPr algn="just">
              <a:buFont typeface="+mj-lt"/>
              <a:buAutoNum type="arabicPeriod"/>
            </a:pPr>
            <a:r>
              <a:rPr lang="en-US" b="0" i="0" dirty="0">
                <a:solidFill>
                  <a:srgbClr val="000000"/>
                </a:solidFill>
                <a:effectLst/>
                <a:latin typeface="inter-regular"/>
              </a:rPr>
              <a:t>Learning Data Structures and Algorithms will help us become better Programmers.</a:t>
            </a:r>
          </a:p>
          <a:p>
            <a:pPr algn="just">
              <a:buFont typeface="+mj-lt"/>
              <a:buAutoNum type="arabicPeriod"/>
            </a:pPr>
            <a:r>
              <a:rPr lang="en-US" b="0" i="0" dirty="0">
                <a:solidFill>
                  <a:srgbClr val="000000"/>
                </a:solidFill>
                <a:effectLst/>
                <a:latin typeface="inter-regular"/>
              </a:rPr>
              <a:t>We will be able to write code that is more effective and reliable.</a:t>
            </a:r>
          </a:p>
          <a:p>
            <a:pPr algn="just">
              <a:buFont typeface="+mj-lt"/>
              <a:buAutoNum type="arabicPeriod"/>
            </a:pPr>
            <a:r>
              <a:rPr lang="en-US" b="0" i="0" dirty="0">
                <a:solidFill>
                  <a:srgbClr val="000000"/>
                </a:solidFill>
                <a:effectLst/>
                <a:latin typeface="inter-regular"/>
              </a:rPr>
              <a:t>We will also be able to solve problems more quickly and efficiently.</a:t>
            </a:r>
          </a:p>
          <a:p>
            <a:endParaRPr lang="en-IN" dirty="0"/>
          </a:p>
        </p:txBody>
      </p:sp>
    </p:spTree>
    <p:extLst>
      <p:ext uri="{BB962C8B-B14F-4D97-AF65-F5344CB8AC3E}">
        <p14:creationId xmlns:p14="http://schemas.microsoft.com/office/powerpoint/2010/main" val="2519922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CBB08-6129-455A-A1B2-4AF666A4567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ECE0A3A-F4B4-4C11-B03B-105B8764D1E3}"/>
              </a:ext>
            </a:extLst>
          </p:cNvPr>
          <p:cNvSpPr>
            <a:spLocks noGrp="1"/>
          </p:cNvSpPr>
          <p:nvPr>
            <p:ph idx="1"/>
          </p:nvPr>
        </p:nvSpPr>
        <p:spPr/>
        <p:txBody>
          <a:bodyPr>
            <a:normAutofit fontScale="77500" lnSpcReduction="20000"/>
          </a:bodyPr>
          <a:lstStyle/>
          <a:p>
            <a:pPr algn="just"/>
            <a:r>
              <a:rPr lang="en-US" b="0" i="0" dirty="0">
                <a:solidFill>
                  <a:srgbClr val="610B38"/>
                </a:solidFill>
                <a:effectLst/>
                <a:latin typeface="erdana"/>
              </a:rPr>
              <a:t>Understanding some Key Features of Data Structures</a:t>
            </a:r>
          </a:p>
          <a:p>
            <a:pPr algn="just"/>
            <a:r>
              <a:rPr lang="en-US" b="0" i="0" dirty="0">
                <a:solidFill>
                  <a:srgbClr val="333333"/>
                </a:solidFill>
                <a:effectLst/>
                <a:latin typeface="inter-regular"/>
              </a:rPr>
              <a:t>Some of the Significant Features of Data Structures are:</a:t>
            </a:r>
          </a:p>
          <a:p>
            <a:pPr algn="just">
              <a:buFont typeface="+mj-lt"/>
              <a:buAutoNum type="arabicPeriod"/>
            </a:pPr>
            <a:r>
              <a:rPr lang="en-US" b="1" i="0" dirty="0">
                <a:solidFill>
                  <a:srgbClr val="000000"/>
                </a:solidFill>
                <a:effectLst/>
                <a:latin typeface="inter-bold"/>
              </a:rPr>
              <a:t>Robustness:</a:t>
            </a:r>
            <a:r>
              <a:rPr lang="en-US" b="0" i="0" dirty="0">
                <a:solidFill>
                  <a:srgbClr val="000000"/>
                </a:solidFill>
                <a:effectLst/>
                <a:latin typeface="inter-regular"/>
              </a:rPr>
              <a:t> Generally, all computer programmers aim to produce software that yields correct output for every possible input, along with efficient execution on all hardware platforms. This type of robust software must manage both valid and invalid inputs.</a:t>
            </a:r>
          </a:p>
          <a:p>
            <a:pPr algn="just">
              <a:buFont typeface="+mj-lt"/>
              <a:buAutoNum type="arabicPeriod"/>
            </a:pPr>
            <a:r>
              <a:rPr lang="en-US" b="1" i="0" dirty="0">
                <a:solidFill>
                  <a:srgbClr val="000000"/>
                </a:solidFill>
                <a:effectLst/>
                <a:latin typeface="inter-bold"/>
              </a:rPr>
              <a:t>Adaptability:</a:t>
            </a:r>
            <a:r>
              <a:rPr lang="en-US" b="0" i="0" dirty="0">
                <a:solidFill>
                  <a:srgbClr val="000000"/>
                </a:solidFill>
                <a:effectLst/>
                <a:latin typeface="inter-regular"/>
              </a:rPr>
              <a:t> Building software applications like Web Browsers, Word Processors, and Internet Search Engine include huge software systems that require correct and efficient working or execution for many years. Moreover, software evolves due to emerging technologies or ever-changing market conditions.</a:t>
            </a:r>
          </a:p>
          <a:p>
            <a:pPr algn="just">
              <a:buFont typeface="+mj-lt"/>
              <a:buAutoNum type="arabicPeriod"/>
            </a:pPr>
            <a:r>
              <a:rPr lang="en-US" b="1" i="0" dirty="0">
                <a:solidFill>
                  <a:srgbClr val="000000"/>
                </a:solidFill>
                <a:effectLst/>
                <a:latin typeface="inter-bold"/>
              </a:rPr>
              <a:t>Reusability:</a:t>
            </a:r>
            <a:r>
              <a:rPr lang="en-US" b="0" i="0" dirty="0">
                <a:solidFill>
                  <a:srgbClr val="000000"/>
                </a:solidFill>
                <a:effectLst/>
                <a:latin typeface="inter-regular"/>
              </a:rPr>
              <a:t> The features like Reusability and Adaptability go hand in hand. It is known that the programmer needs many resources to build any software, making it a costly enterprise. However, if the software is developed in a reusable and adaptable way, then it can be applied in most future applications. Thus, by executing quality data structures, it is possible to build reusable software, which appears to be cost-effective and timesaving.</a:t>
            </a:r>
          </a:p>
          <a:p>
            <a:endParaRPr lang="en-IN" dirty="0"/>
          </a:p>
        </p:txBody>
      </p:sp>
    </p:spTree>
    <p:extLst>
      <p:ext uri="{BB962C8B-B14F-4D97-AF65-F5344CB8AC3E}">
        <p14:creationId xmlns:p14="http://schemas.microsoft.com/office/powerpoint/2010/main" val="860343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331C7-13D4-46F0-A551-12501CFDB191}"/>
              </a:ext>
            </a:extLst>
          </p:cNvPr>
          <p:cNvSpPr>
            <a:spLocks noGrp="1"/>
          </p:cNvSpPr>
          <p:nvPr>
            <p:ph type="title"/>
          </p:nvPr>
        </p:nvSpPr>
        <p:spPr/>
        <p:txBody>
          <a:bodyPr/>
          <a:lstStyle/>
          <a:p>
            <a:r>
              <a:rPr lang="en-IN" b="0" i="0" dirty="0">
                <a:solidFill>
                  <a:srgbClr val="610B38"/>
                </a:solidFill>
                <a:effectLst/>
                <a:latin typeface="erdana"/>
              </a:rPr>
              <a:t>Classification of Data Structures</a:t>
            </a:r>
            <a:br>
              <a:rPr lang="en-IN" b="0" i="0" dirty="0">
                <a:solidFill>
                  <a:srgbClr val="610B38"/>
                </a:solidFill>
                <a:effectLst/>
                <a:latin typeface="erdana"/>
              </a:rPr>
            </a:br>
            <a:endParaRPr lang="en-IN" dirty="0"/>
          </a:p>
        </p:txBody>
      </p:sp>
      <p:sp>
        <p:nvSpPr>
          <p:cNvPr id="4" name="Content Placeholder 3">
            <a:extLst>
              <a:ext uri="{FF2B5EF4-FFF2-40B4-BE49-F238E27FC236}">
                <a16:creationId xmlns:a16="http://schemas.microsoft.com/office/drawing/2014/main" id="{B0107DA6-F0D9-4FC6-851D-726817CB8BA4}"/>
              </a:ext>
            </a:extLst>
          </p:cNvPr>
          <p:cNvSpPr>
            <a:spLocks noGrp="1"/>
          </p:cNvSpPr>
          <p:nvPr>
            <p:ph idx="1"/>
          </p:nvPr>
        </p:nvSpPr>
        <p:spPr/>
        <p:txBody>
          <a:bodyPr/>
          <a:lstStyle/>
          <a:p>
            <a:endParaRPr lang="en-IN"/>
          </a:p>
        </p:txBody>
      </p:sp>
      <p:pic>
        <p:nvPicPr>
          <p:cNvPr id="3076" name="Picture 4" descr="Primitive vs non-primitive data structure">
            <a:extLst>
              <a:ext uri="{FF2B5EF4-FFF2-40B4-BE49-F238E27FC236}">
                <a16:creationId xmlns:a16="http://schemas.microsoft.com/office/drawing/2014/main" id="{AE69A44A-CE31-422C-BC83-2A06355EE4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299" y="1785938"/>
            <a:ext cx="8075595" cy="4037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2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FF7C1-591F-4315-8B16-5C3CFA7AF271}"/>
              </a:ext>
            </a:extLst>
          </p:cNvPr>
          <p:cNvSpPr>
            <a:spLocks noGrp="1"/>
          </p:cNvSpPr>
          <p:nvPr>
            <p:ph type="title"/>
          </p:nvPr>
        </p:nvSpPr>
        <p:spPr/>
        <p:txBody>
          <a:bodyPr/>
          <a:lstStyle/>
          <a:p>
            <a:r>
              <a:rPr lang="en-US" dirty="0">
                <a:solidFill>
                  <a:srgbClr val="333333"/>
                </a:solidFill>
                <a:latin typeface="inter-regular"/>
              </a:rPr>
              <a:t>P</a:t>
            </a:r>
            <a:r>
              <a:rPr lang="en-US" b="0" i="0" dirty="0">
                <a:solidFill>
                  <a:srgbClr val="333333"/>
                </a:solidFill>
                <a:effectLst/>
                <a:latin typeface="inter-regular"/>
              </a:rPr>
              <a:t>rimitive data structure</a:t>
            </a:r>
            <a:endParaRPr lang="en-IN" dirty="0"/>
          </a:p>
        </p:txBody>
      </p:sp>
      <p:sp>
        <p:nvSpPr>
          <p:cNvPr id="3" name="Content Placeholder 2">
            <a:extLst>
              <a:ext uri="{FF2B5EF4-FFF2-40B4-BE49-F238E27FC236}">
                <a16:creationId xmlns:a16="http://schemas.microsoft.com/office/drawing/2014/main" id="{B6BB4C09-5350-4FA4-9EB0-B50D73B04CB7}"/>
              </a:ext>
            </a:extLst>
          </p:cNvPr>
          <p:cNvSpPr>
            <a:spLocks noGrp="1"/>
          </p:cNvSpPr>
          <p:nvPr>
            <p:ph idx="1"/>
          </p:nvPr>
        </p:nvSpPr>
        <p:spPr/>
        <p:txBody>
          <a:bodyPr/>
          <a:lstStyle/>
          <a:p>
            <a:pPr algn="just"/>
            <a:r>
              <a:rPr lang="en-US" b="0" i="0" dirty="0">
                <a:solidFill>
                  <a:srgbClr val="333333"/>
                </a:solidFill>
                <a:effectLst/>
                <a:latin typeface="inter-regular"/>
              </a:rPr>
              <a:t> In the case of primitive data structure, it contains fundamental data types such as integer, float, character, pointer, and these fundamental data types can hold a single type of value. </a:t>
            </a:r>
          </a:p>
          <a:p>
            <a:pPr algn="just"/>
            <a:r>
              <a:rPr lang="en-US" b="0" i="0" dirty="0">
                <a:solidFill>
                  <a:srgbClr val="333333"/>
                </a:solidFill>
                <a:effectLst/>
                <a:latin typeface="inter-regular"/>
              </a:rPr>
              <a:t>For example, integer variable can hold integer type of value, float variable can hold floating type of value, character variable can hold character type of value whereas the pointer variable can hold pointer type of value.</a:t>
            </a:r>
            <a:endParaRPr lang="en-IN" dirty="0"/>
          </a:p>
        </p:txBody>
      </p:sp>
    </p:spTree>
    <p:extLst>
      <p:ext uri="{BB962C8B-B14F-4D97-AF65-F5344CB8AC3E}">
        <p14:creationId xmlns:p14="http://schemas.microsoft.com/office/powerpoint/2010/main" val="2629919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2A83D-D46B-4130-B371-796EC504A6C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E193798-068E-43E5-9FA4-5B6FB7DD095B}"/>
              </a:ext>
            </a:extLst>
          </p:cNvPr>
          <p:cNvSpPr>
            <a:spLocks noGrp="1"/>
          </p:cNvSpPr>
          <p:nvPr>
            <p:ph idx="1"/>
          </p:nvPr>
        </p:nvSpPr>
        <p:spPr/>
        <p:txBody>
          <a:bodyPr/>
          <a:lstStyle/>
          <a:p>
            <a:r>
              <a:rPr lang="en-US" b="0" i="0" dirty="0">
                <a:solidFill>
                  <a:srgbClr val="333333"/>
                </a:solidFill>
                <a:effectLst/>
                <a:latin typeface="inter-regular"/>
              </a:rPr>
              <a:t>In the case of non-primitive data structure, it is categorized into two parts such as linear data structure and non-linear data structure. </a:t>
            </a:r>
            <a:endParaRPr lang="en-IN" dirty="0"/>
          </a:p>
        </p:txBody>
      </p:sp>
    </p:spTree>
    <p:extLst>
      <p:ext uri="{BB962C8B-B14F-4D97-AF65-F5344CB8AC3E}">
        <p14:creationId xmlns:p14="http://schemas.microsoft.com/office/powerpoint/2010/main" val="2111305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25D6C-914B-4A90-967F-C17EEEA48C95}"/>
              </a:ext>
            </a:extLst>
          </p:cNvPr>
          <p:cNvSpPr>
            <a:spLocks noGrp="1"/>
          </p:cNvSpPr>
          <p:nvPr>
            <p:ph type="title"/>
          </p:nvPr>
        </p:nvSpPr>
        <p:spPr/>
        <p:txBody>
          <a:bodyPr/>
          <a:lstStyle/>
          <a:p>
            <a:r>
              <a:rPr lang="en-US" b="1" i="0" dirty="0">
                <a:solidFill>
                  <a:srgbClr val="273239"/>
                </a:solidFill>
                <a:effectLst/>
                <a:latin typeface="Nunito" pitchFamily="2" charset="0"/>
              </a:rPr>
              <a:t>Linear data structure:</a:t>
            </a:r>
            <a:r>
              <a:rPr lang="en-US" b="0" i="0" dirty="0">
                <a:solidFill>
                  <a:srgbClr val="273239"/>
                </a:solidFill>
                <a:effectLst/>
                <a:latin typeface="Nunito" pitchFamily="2" charset="0"/>
              </a:rPr>
              <a:t> </a:t>
            </a:r>
            <a:endParaRPr lang="en-IN" dirty="0"/>
          </a:p>
        </p:txBody>
      </p:sp>
      <p:sp>
        <p:nvSpPr>
          <p:cNvPr id="3" name="Content Placeholder 2">
            <a:extLst>
              <a:ext uri="{FF2B5EF4-FFF2-40B4-BE49-F238E27FC236}">
                <a16:creationId xmlns:a16="http://schemas.microsoft.com/office/drawing/2014/main" id="{6C469A6A-4611-4AF7-AA29-68C13395134C}"/>
              </a:ext>
            </a:extLst>
          </p:cNvPr>
          <p:cNvSpPr>
            <a:spLocks noGrp="1"/>
          </p:cNvSpPr>
          <p:nvPr>
            <p:ph idx="1"/>
          </p:nvPr>
        </p:nvSpPr>
        <p:spPr/>
        <p:txBody>
          <a:bodyPr>
            <a:normAutofit/>
          </a:bodyPr>
          <a:lstStyle/>
          <a:p>
            <a:pPr marL="0" indent="0" algn="l" fontAlgn="base">
              <a:buNone/>
            </a:pPr>
            <a:r>
              <a:rPr lang="en-US" sz="2400" b="0" dirty="0">
                <a:solidFill>
                  <a:srgbClr val="273239"/>
                </a:solidFill>
                <a:effectLst/>
                <a:latin typeface="Times New Roman" panose="02020603050405020304" pitchFamily="18" charset="0"/>
                <a:cs typeface="Times New Roman" panose="02020603050405020304" pitchFamily="18" charset="0"/>
              </a:rPr>
              <a:t>Data structure in which data elements are arranged sequentially or linearly, where each element is attached to its previous and next adjacent elements, is called a linear data structure. </a:t>
            </a:r>
            <a:br>
              <a:rPr lang="en-US" sz="2400" b="0" dirty="0">
                <a:solidFill>
                  <a:srgbClr val="273239"/>
                </a:solidFill>
                <a:effectLst/>
                <a:latin typeface="Times New Roman" panose="02020603050405020304" pitchFamily="18" charset="0"/>
                <a:cs typeface="Times New Roman" panose="02020603050405020304" pitchFamily="18" charset="0"/>
              </a:rPr>
            </a:br>
            <a:r>
              <a:rPr lang="en-US" sz="2400" b="0" dirty="0">
                <a:solidFill>
                  <a:srgbClr val="273239"/>
                </a:solidFill>
                <a:effectLst/>
                <a:latin typeface="Times New Roman" panose="02020603050405020304" pitchFamily="18" charset="0"/>
                <a:cs typeface="Times New Roman" panose="02020603050405020304" pitchFamily="18" charset="0"/>
              </a:rPr>
              <a:t>Examples of linear data structures are array, stack, queue, linked list, etc.</a:t>
            </a:r>
          </a:p>
          <a:p>
            <a:pPr marL="742950" lvl="1" indent="-285750" algn="l" fontAlgn="base">
              <a:buFont typeface="Arial" panose="020B0604020202020204" pitchFamily="34" charset="0"/>
              <a:buChar char="•"/>
            </a:pPr>
            <a:r>
              <a:rPr lang="en-US" b="1" dirty="0">
                <a:solidFill>
                  <a:srgbClr val="273239"/>
                </a:solidFill>
                <a:effectLst/>
                <a:latin typeface="Times New Roman" panose="02020603050405020304" pitchFamily="18" charset="0"/>
                <a:cs typeface="Times New Roman" panose="02020603050405020304" pitchFamily="18" charset="0"/>
              </a:rPr>
              <a:t>Static data structure: </a:t>
            </a:r>
            <a:r>
              <a:rPr lang="en-US" b="0" dirty="0">
                <a:solidFill>
                  <a:srgbClr val="273239"/>
                </a:solidFill>
                <a:effectLst/>
                <a:latin typeface="Times New Roman" panose="02020603050405020304" pitchFamily="18" charset="0"/>
                <a:cs typeface="Times New Roman" panose="02020603050405020304" pitchFamily="18" charset="0"/>
              </a:rPr>
              <a:t>Static data structure has a fixed memory size. It is easier to access the elements in a static data structure. </a:t>
            </a:r>
            <a:br>
              <a:rPr lang="en-US" b="0" dirty="0">
                <a:solidFill>
                  <a:srgbClr val="273239"/>
                </a:solidFill>
                <a:effectLst/>
                <a:latin typeface="Times New Roman" panose="02020603050405020304" pitchFamily="18" charset="0"/>
                <a:cs typeface="Times New Roman" panose="02020603050405020304" pitchFamily="18" charset="0"/>
              </a:rPr>
            </a:br>
            <a:r>
              <a:rPr lang="en-US" b="0" dirty="0">
                <a:solidFill>
                  <a:srgbClr val="273239"/>
                </a:solidFill>
                <a:effectLst/>
                <a:latin typeface="Times New Roman" panose="02020603050405020304" pitchFamily="18" charset="0"/>
                <a:cs typeface="Times New Roman" panose="02020603050405020304" pitchFamily="18" charset="0"/>
              </a:rPr>
              <a:t>An example of this data structure is an array.</a:t>
            </a:r>
          </a:p>
          <a:p>
            <a:pPr marL="742950" lvl="1" indent="-285750" algn="l" fontAlgn="base">
              <a:buFont typeface="Arial" panose="020B0604020202020204" pitchFamily="34" charset="0"/>
              <a:buChar char="•"/>
            </a:pPr>
            <a:r>
              <a:rPr lang="en-US" b="1" dirty="0">
                <a:solidFill>
                  <a:srgbClr val="273239"/>
                </a:solidFill>
                <a:effectLst/>
                <a:latin typeface="Times New Roman" panose="02020603050405020304" pitchFamily="18" charset="0"/>
                <a:cs typeface="Times New Roman" panose="02020603050405020304" pitchFamily="18" charset="0"/>
              </a:rPr>
              <a:t>Dynamic data structure: </a:t>
            </a:r>
            <a:r>
              <a:rPr lang="en-US" b="0" dirty="0">
                <a:solidFill>
                  <a:srgbClr val="273239"/>
                </a:solidFill>
                <a:effectLst/>
                <a:latin typeface="Times New Roman" panose="02020603050405020304" pitchFamily="18" charset="0"/>
                <a:cs typeface="Times New Roman" panose="02020603050405020304" pitchFamily="18" charset="0"/>
              </a:rPr>
              <a:t>In the dynamic data structure, the size is not fixed. It can be randomly updated during the runtime which may be considered efficient concerning the memory (space) complexity of the code. </a:t>
            </a:r>
            <a:br>
              <a:rPr lang="en-US" b="0" dirty="0">
                <a:solidFill>
                  <a:srgbClr val="273239"/>
                </a:solidFill>
                <a:effectLst/>
                <a:latin typeface="Times New Roman" panose="02020603050405020304" pitchFamily="18" charset="0"/>
                <a:cs typeface="Times New Roman" panose="02020603050405020304" pitchFamily="18" charset="0"/>
              </a:rPr>
            </a:br>
            <a:r>
              <a:rPr lang="en-US" b="0" dirty="0">
                <a:solidFill>
                  <a:srgbClr val="273239"/>
                </a:solidFill>
                <a:effectLst/>
                <a:latin typeface="Times New Roman" panose="02020603050405020304" pitchFamily="18" charset="0"/>
                <a:cs typeface="Times New Roman" panose="02020603050405020304" pitchFamily="18" charset="0"/>
              </a:rPr>
              <a:t>Examples of this data structure are queue, stack, etc.</a:t>
            </a:r>
          </a:p>
          <a:p>
            <a:endParaRPr lang="en-IN" dirty="0"/>
          </a:p>
        </p:txBody>
      </p:sp>
    </p:spTree>
    <p:extLst>
      <p:ext uri="{BB962C8B-B14F-4D97-AF65-F5344CB8AC3E}">
        <p14:creationId xmlns:p14="http://schemas.microsoft.com/office/powerpoint/2010/main" val="2315466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44948-BA8C-472E-BA16-9D1BE393D7D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0A6364D-9BA6-4C73-87F3-40368D50AC1F}"/>
              </a:ext>
            </a:extLst>
          </p:cNvPr>
          <p:cNvSpPr>
            <a:spLocks noGrp="1"/>
          </p:cNvSpPr>
          <p:nvPr>
            <p:ph idx="1"/>
          </p:nvPr>
        </p:nvSpPr>
        <p:spPr/>
        <p:txBody>
          <a:bodyPr/>
          <a:lstStyle/>
          <a:p>
            <a:r>
              <a:rPr lang="en-US" b="1" dirty="0">
                <a:solidFill>
                  <a:srgbClr val="273239"/>
                </a:solidFill>
                <a:effectLst/>
                <a:latin typeface="Times New Roman" panose="02020603050405020304" pitchFamily="18" charset="0"/>
                <a:cs typeface="Times New Roman" panose="02020603050405020304" pitchFamily="18" charset="0"/>
              </a:rPr>
              <a:t>Non-linear data structure: </a:t>
            </a:r>
            <a:r>
              <a:rPr lang="en-US" b="0" dirty="0">
                <a:solidFill>
                  <a:srgbClr val="273239"/>
                </a:solidFill>
                <a:effectLst/>
                <a:latin typeface="Times New Roman" panose="02020603050405020304" pitchFamily="18" charset="0"/>
                <a:cs typeface="Times New Roman" panose="02020603050405020304" pitchFamily="18" charset="0"/>
              </a:rPr>
              <a:t>Data structures where data elements are not placed sequentially or linearly are called non-linear data structures. In a non-linear data structure, we can’t traverse all the elements in a single run only. </a:t>
            </a:r>
            <a:br>
              <a:rPr lang="en-US" b="0" dirty="0">
                <a:solidFill>
                  <a:srgbClr val="273239"/>
                </a:solidFill>
                <a:effectLst/>
                <a:latin typeface="Times New Roman" panose="02020603050405020304" pitchFamily="18" charset="0"/>
                <a:cs typeface="Times New Roman" panose="02020603050405020304" pitchFamily="18" charset="0"/>
              </a:rPr>
            </a:br>
            <a:r>
              <a:rPr lang="en-US" b="0" dirty="0">
                <a:solidFill>
                  <a:srgbClr val="273239"/>
                </a:solidFill>
                <a:effectLst/>
                <a:latin typeface="Times New Roman" panose="02020603050405020304" pitchFamily="18" charset="0"/>
                <a:cs typeface="Times New Roman" panose="02020603050405020304" pitchFamily="18" charset="0"/>
              </a:rPr>
              <a:t>Examples of non-linear data structures are trees and graphs.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8861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C1BE7-D4A4-4282-803F-42F5D43EB97D}"/>
              </a:ext>
            </a:extLst>
          </p:cNvPr>
          <p:cNvSpPr>
            <a:spLocks noGrp="1"/>
          </p:cNvSpPr>
          <p:nvPr>
            <p:ph type="title"/>
          </p:nvPr>
        </p:nvSpPr>
        <p:spPr/>
        <p:txBody>
          <a:bodyPr/>
          <a:lstStyle/>
          <a:p>
            <a:r>
              <a:rPr lang="en-US" b="1" i="0" dirty="0">
                <a:solidFill>
                  <a:srgbClr val="273239"/>
                </a:solidFill>
                <a:effectLst/>
                <a:latin typeface="Nunito" pitchFamily="2" charset="0"/>
              </a:rPr>
              <a:t>Arrays:</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C6CFD82B-C3F6-4B2E-B5A1-E5F0745D4611}"/>
              </a:ext>
            </a:extLst>
          </p:cNvPr>
          <p:cNvSpPr>
            <a:spLocks noGrp="1"/>
          </p:cNvSpPr>
          <p:nvPr>
            <p:ph idx="1"/>
          </p:nvPr>
        </p:nvSpPr>
        <p:spPr/>
        <p:txBody>
          <a:bodyPr/>
          <a:lstStyle/>
          <a:p>
            <a:pPr algn="l" rtl="0" fontAlgn="base"/>
            <a:r>
              <a:rPr lang="en-US" b="0" i="0" dirty="0">
                <a:solidFill>
                  <a:srgbClr val="273239"/>
                </a:solidFill>
                <a:effectLst/>
                <a:latin typeface="Nunito" pitchFamily="2" charset="0"/>
              </a:rPr>
              <a:t>An array is a linear data structure and it is a collection of items stored at contiguous memory locations. </a:t>
            </a:r>
          </a:p>
          <a:p>
            <a:pPr algn="l" rtl="0" fontAlgn="base"/>
            <a:r>
              <a:rPr lang="en-US" b="0" i="0" dirty="0">
                <a:solidFill>
                  <a:srgbClr val="273239"/>
                </a:solidFill>
                <a:effectLst/>
                <a:latin typeface="Nunito" pitchFamily="2" charset="0"/>
              </a:rPr>
              <a:t>The idea is to store multiple items of the same type together in one place. It allows the processing of a large amount of data in a relatively short period. </a:t>
            </a:r>
          </a:p>
          <a:p>
            <a:pPr algn="l" rtl="0" fontAlgn="base"/>
            <a:r>
              <a:rPr lang="en-US" b="0" i="0" dirty="0">
                <a:solidFill>
                  <a:srgbClr val="273239"/>
                </a:solidFill>
                <a:effectLst/>
                <a:latin typeface="Nunito" pitchFamily="2" charset="0"/>
              </a:rPr>
              <a:t>The first element of the array is indexed by a subscript of 0. </a:t>
            </a:r>
          </a:p>
          <a:p>
            <a:pPr algn="l" rtl="0" fontAlgn="base"/>
            <a:r>
              <a:rPr lang="en-US" b="0" i="0" dirty="0">
                <a:solidFill>
                  <a:srgbClr val="273239"/>
                </a:solidFill>
                <a:effectLst/>
                <a:latin typeface="Nunito" pitchFamily="2" charset="0"/>
              </a:rPr>
              <a:t>There are different operations possible in an array, like Searching, Sorting, Inserting, Traversing, Reversing, and Deleting.</a:t>
            </a:r>
          </a:p>
          <a:p>
            <a:endParaRPr lang="en-IN" dirty="0"/>
          </a:p>
        </p:txBody>
      </p:sp>
    </p:spTree>
    <p:extLst>
      <p:ext uri="{BB962C8B-B14F-4D97-AF65-F5344CB8AC3E}">
        <p14:creationId xmlns:p14="http://schemas.microsoft.com/office/powerpoint/2010/main" val="1843057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9E632-C2EA-49C5-8A19-7E8B11DF980D}"/>
              </a:ext>
            </a:extLst>
          </p:cNvPr>
          <p:cNvSpPr>
            <a:spLocks noGrp="1"/>
          </p:cNvSpPr>
          <p:nvPr>
            <p:ph type="title"/>
          </p:nvPr>
        </p:nvSpPr>
        <p:spPr/>
        <p:txBody>
          <a:bodyPr/>
          <a:lstStyle/>
          <a:p>
            <a:endParaRPr lang="en-IN"/>
          </a:p>
        </p:txBody>
      </p:sp>
      <p:pic>
        <p:nvPicPr>
          <p:cNvPr id="5122" name="Picture 2" descr="Lightbox">
            <a:extLst>
              <a:ext uri="{FF2B5EF4-FFF2-40B4-BE49-F238E27FC236}">
                <a16:creationId xmlns:a16="http://schemas.microsoft.com/office/drawing/2014/main" id="{1274D36E-A401-41EB-A441-695EBC5F26F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46947" y="3072606"/>
            <a:ext cx="5492165" cy="1857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6178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840E0-8089-4D04-9720-6B455FD5B591}"/>
              </a:ext>
            </a:extLst>
          </p:cNvPr>
          <p:cNvSpPr>
            <a:spLocks noGrp="1"/>
          </p:cNvSpPr>
          <p:nvPr>
            <p:ph type="title"/>
          </p:nvPr>
        </p:nvSpPr>
        <p:spPr/>
        <p:txBody>
          <a:bodyPr/>
          <a:lstStyle/>
          <a:p>
            <a:r>
              <a:rPr lang="en-US" b="1" i="0" dirty="0">
                <a:solidFill>
                  <a:srgbClr val="273239"/>
                </a:solidFill>
                <a:effectLst/>
                <a:latin typeface="Nunito" pitchFamily="2" charset="0"/>
              </a:rPr>
              <a:t>Characteristics of an Array: </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C4BFF653-2A94-43BB-91F0-E6475EC5F4E0}"/>
              </a:ext>
            </a:extLst>
          </p:cNvPr>
          <p:cNvSpPr>
            <a:spLocks noGrp="1"/>
          </p:cNvSpPr>
          <p:nvPr>
            <p:ph idx="1"/>
          </p:nvPr>
        </p:nvSpPr>
        <p:spPr/>
        <p:txBody>
          <a:bodyPr>
            <a:normAutofit lnSpcReduction="10000"/>
          </a:bodyPr>
          <a:lstStyle/>
          <a:p>
            <a:pPr algn="l" rtl="0" fontAlgn="base"/>
            <a:r>
              <a:rPr lang="en-US" b="0" i="0" dirty="0">
                <a:solidFill>
                  <a:srgbClr val="273239"/>
                </a:solidFill>
                <a:effectLst/>
                <a:latin typeface="Nunito" pitchFamily="2" charset="0"/>
              </a:rPr>
              <a:t>An array has various characteristics which are as follows:</a:t>
            </a:r>
          </a:p>
          <a:p>
            <a:pPr algn="l" fontAlgn="base">
              <a:buFont typeface="Arial" panose="020B0604020202020204" pitchFamily="34" charset="0"/>
              <a:buChar char="•"/>
            </a:pPr>
            <a:r>
              <a:rPr lang="en-US" b="0" i="0" dirty="0">
                <a:solidFill>
                  <a:srgbClr val="273239"/>
                </a:solidFill>
                <a:effectLst/>
                <a:latin typeface="Nunito" pitchFamily="2" charset="0"/>
              </a:rPr>
              <a:t>Arrays use an index-based data structure which helps to identify each of the elements in an array easily using the index.</a:t>
            </a:r>
          </a:p>
          <a:p>
            <a:pPr algn="l" fontAlgn="base">
              <a:buFont typeface="Arial" panose="020B0604020202020204" pitchFamily="34" charset="0"/>
              <a:buChar char="•"/>
            </a:pPr>
            <a:r>
              <a:rPr lang="en-US" b="0" i="0" dirty="0">
                <a:solidFill>
                  <a:srgbClr val="273239"/>
                </a:solidFill>
                <a:effectLst/>
                <a:latin typeface="Nunito" pitchFamily="2" charset="0"/>
              </a:rPr>
              <a:t>If a user wants to store multiple values of the same data type, then the array can be utilized efficiently.</a:t>
            </a:r>
          </a:p>
          <a:p>
            <a:pPr algn="l" fontAlgn="base">
              <a:buFont typeface="Arial" panose="020B0604020202020204" pitchFamily="34" charset="0"/>
              <a:buChar char="•"/>
            </a:pPr>
            <a:r>
              <a:rPr lang="en-US" b="0" i="0" dirty="0">
                <a:solidFill>
                  <a:srgbClr val="273239"/>
                </a:solidFill>
                <a:effectLst/>
                <a:latin typeface="Nunito" pitchFamily="2" charset="0"/>
              </a:rPr>
              <a:t>An array can also handle complex data structures by storing data in a two-dimensional array.</a:t>
            </a:r>
          </a:p>
          <a:p>
            <a:pPr algn="l" fontAlgn="base">
              <a:buFont typeface="Arial" panose="020B0604020202020204" pitchFamily="34" charset="0"/>
              <a:buChar char="•"/>
            </a:pPr>
            <a:r>
              <a:rPr lang="en-US" b="0" i="0" dirty="0">
                <a:solidFill>
                  <a:srgbClr val="273239"/>
                </a:solidFill>
                <a:effectLst/>
                <a:latin typeface="Nunito" pitchFamily="2" charset="0"/>
              </a:rPr>
              <a:t>An array is also used to implement other data structures like Stacks, Queues, Heaps, Hash tables, etc.</a:t>
            </a:r>
          </a:p>
          <a:p>
            <a:pPr algn="l" fontAlgn="base">
              <a:buFont typeface="Arial" panose="020B0604020202020204" pitchFamily="34" charset="0"/>
              <a:buChar char="•"/>
            </a:pPr>
            <a:r>
              <a:rPr lang="en-US" b="0" i="0" dirty="0">
                <a:solidFill>
                  <a:srgbClr val="273239"/>
                </a:solidFill>
                <a:effectLst/>
                <a:latin typeface="Nunito" pitchFamily="2" charset="0"/>
              </a:rPr>
              <a:t>The search process in an array can be done very easily.</a:t>
            </a:r>
          </a:p>
          <a:p>
            <a:pPr marL="0" indent="0">
              <a:buNone/>
            </a:pPr>
            <a:endParaRPr lang="en-IN" dirty="0"/>
          </a:p>
        </p:txBody>
      </p:sp>
    </p:spTree>
    <p:extLst>
      <p:ext uri="{BB962C8B-B14F-4D97-AF65-F5344CB8AC3E}">
        <p14:creationId xmlns:p14="http://schemas.microsoft.com/office/powerpoint/2010/main" val="2413546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D35E8-B334-4AB3-A2EB-1A8A5B6A610D}"/>
              </a:ext>
            </a:extLst>
          </p:cNvPr>
          <p:cNvSpPr>
            <a:spLocks noGrp="1"/>
          </p:cNvSpPr>
          <p:nvPr>
            <p:ph type="title"/>
          </p:nvPr>
        </p:nvSpPr>
        <p:spPr/>
        <p:txBody>
          <a:bodyPr/>
          <a:lstStyle/>
          <a:p>
            <a:r>
              <a:rPr lang="en-US" b="1" i="0" dirty="0">
                <a:solidFill>
                  <a:srgbClr val="333333"/>
                </a:solidFill>
                <a:effectLst/>
                <a:latin typeface="inter-bold"/>
              </a:rPr>
              <a:t>Arrays can be classified into different types:</a:t>
            </a:r>
            <a:br>
              <a:rPr lang="en-US" b="0" i="0" dirty="0">
                <a:solidFill>
                  <a:srgbClr val="333333"/>
                </a:solidFill>
                <a:effectLst/>
                <a:latin typeface="inter-regular"/>
              </a:rPr>
            </a:br>
            <a:endParaRPr lang="en-IN" dirty="0"/>
          </a:p>
        </p:txBody>
      </p:sp>
      <p:sp>
        <p:nvSpPr>
          <p:cNvPr id="3" name="Content Placeholder 2">
            <a:extLst>
              <a:ext uri="{FF2B5EF4-FFF2-40B4-BE49-F238E27FC236}">
                <a16:creationId xmlns:a16="http://schemas.microsoft.com/office/drawing/2014/main" id="{15436BCD-CB31-4E75-98D5-993A432F904A}"/>
              </a:ext>
            </a:extLst>
          </p:cNvPr>
          <p:cNvSpPr>
            <a:spLocks noGrp="1"/>
          </p:cNvSpPr>
          <p:nvPr>
            <p:ph idx="1"/>
          </p:nvPr>
        </p:nvSpPr>
        <p:spPr/>
        <p:txBody>
          <a:bodyPr>
            <a:normAutofit/>
          </a:bodyPr>
          <a:lstStyle/>
          <a:p>
            <a:pPr algn="just">
              <a:buFont typeface="+mj-lt"/>
              <a:buAutoNum type="arabicPeriod"/>
            </a:pPr>
            <a:r>
              <a:rPr lang="en-US" b="1" i="0" dirty="0">
                <a:solidFill>
                  <a:srgbClr val="000000"/>
                </a:solidFill>
                <a:effectLst/>
                <a:latin typeface="inter-bold"/>
              </a:rPr>
              <a:t>One-Dimensional Array:</a:t>
            </a:r>
            <a:r>
              <a:rPr lang="en-US" b="0" i="0" dirty="0">
                <a:solidFill>
                  <a:srgbClr val="000000"/>
                </a:solidFill>
                <a:effectLst/>
                <a:latin typeface="inter-regular"/>
              </a:rPr>
              <a:t> An Array with only one row of data elements is known as a One-Dimensional Array. It is stored in ascending storage location.</a:t>
            </a:r>
          </a:p>
          <a:p>
            <a:pPr algn="just">
              <a:buFont typeface="+mj-lt"/>
              <a:buAutoNum type="arabicPeriod"/>
            </a:pPr>
            <a:r>
              <a:rPr lang="en-US" b="1" i="0" dirty="0">
                <a:solidFill>
                  <a:srgbClr val="000000"/>
                </a:solidFill>
                <a:effectLst/>
                <a:latin typeface="inter-bold"/>
              </a:rPr>
              <a:t>Two-Dimensional Array:</a:t>
            </a:r>
            <a:r>
              <a:rPr lang="en-US" b="0" i="0" dirty="0">
                <a:solidFill>
                  <a:srgbClr val="000000"/>
                </a:solidFill>
                <a:effectLst/>
                <a:latin typeface="inter-regular"/>
              </a:rPr>
              <a:t> An Array consisting of multiple rows and columns of data elements is called a Two-Dimensional Array. It is also known as a Matrix.</a:t>
            </a:r>
          </a:p>
          <a:p>
            <a:pPr algn="just">
              <a:buFont typeface="+mj-lt"/>
              <a:buAutoNum type="arabicPeriod"/>
            </a:pPr>
            <a:r>
              <a:rPr lang="en-US" b="1" i="0" dirty="0">
                <a:solidFill>
                  <a:srgbClr val="000000"/>
                </a:solidFill>
                <a:effectLst/>
                <a:latin typeface="inter-bold"/>
              </a:rPr>
              <a:t>Multidimensional Array:</a:t>
            </a:r>
            <a:r>
              <a:rPr lang="en-US" b="0" i="0" dirty="0">
                <a:solidFill>
                  <a:srgbClr val="000000"/>
                </a:solidFill>
                <a:effectLst/>
                <a:latin typeface="inter-regular"/>
              </a:rPr>
              <a:t> We can define Multidimensional Array as an Array of Arrays. Multidimensional Arrays are not bounded to two indices or two dimensions as they can include as many indices are per the need.</a:t>
            </a:r>
          </a:p>
          <a:p>
            <a:endParaRPr lang="en-IN" dirty="0"/>
          </a:p>
        </p:txBody>
      </p:sp>
    </p:spTree>
    <p:extLst>
      <p:ext uri="{BB962C8B-B14F-4D97-AF65-F5344CB8AC3E}">
        <p14:creationId xmlns:p14="http://schemas.microsoft.com/office/powerpoint/2010/main" val="28309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59E5E-8D01-4510-B6C4-3BFF330818CA}"/>
              </a:ext>
            </a:extLst>
          </p:cNvPr>
          <p:cNvSpPr>
            <a:spLocks noGrp="1"/>
          </p:cNvSpPr>
          <p:nvPr>
            <p:ph type="title"/>
          </p:nvPr>
        </p:nvSpPr>
        <p:spPr/>
        <p:txBody>
          <a:bodyPr/>
          <a:lstStyle/>
          <a:p>
            <a:r>
              <a:rPr lang="en-US" b="1" i="0" dirty="0">
                <a:solidFill>
                  <a:srgbClr val="273239"/>
                </a:solidFill>
                <a:effectLst/>
                <a:latin typeface="Nunito" pitchFamily="2" charset="0"/>
              </a:rPr>
              <a:t>Linked list: </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DC30E56B-7644-4884-9FC9-27BAB814BCB1}"/>
              </a:ext>
            </a:extLst>
          </p:cNvPr>
          <p:cNvSpPr>
            <a:spLocks noGrp="1"/>
          </p:cNvSpPr>
          <p:nvPr>
            <p:ph idx="1"/>
          </p:nvPr>
        </p:nvSpPr>
        <p:spPr/>
        <p:txBody>
          <a:bodyPr>
            <a:normAutofit/>
          </a:bodyPr>
          <a:lstStyle/>
          <a:p>
            <a:pPr algn="l" rtl="0" fontAlgn="base"/>
            <a:r>
              <a:rPr lang="en-US" b="0" i="0" dirty="0">
                <a:solidFill>
                  <a:srgbClr val="273239"/>
                </a:solidFill>
                <a:effectLst/>
                <a:latin typeface="Nunito" pitchFamily="2" charset="0"/>
              </a:rPr>
              <a:t>A linked list is a linear data structure in which elements are not stored at contiguous memory locations. The elements in a linked list are linked using pointers as shown in the below image: </a:t>
            </a:r>
          </a:p>
          <a:p>
            <a:pPr algn="l" rtl="0" fontAlgn="base"/>
            <a:r>
              <a:rPr lang="en-US" b="0" i="0" dirty="0">
                <a:solidFill>
                  <a:srgbClr val="273239"/>
                </a:solidFill>
                <a:effectLst/>
                <a:latin typeface="Nunito" pitchFamily="2" charset="0"/>
              </a:rPr>
              <a:t>Types of linked lists:</a:t>
            </a:r>
          </a:p>
          <a:p>
            <a:pPr algn="l" fontAlgn="base">
              <a:buFont typeface="Arial" panose="020B0604020202020204" pitchFamily="34" charset="0"/>
              <a:buChar char="•"/>
            </a:pPr>
            <a:r>
              <a:rPr lang="en-US" b="0" i="0" dirty="0">
                <a:solidFill>
                  <a:srgbClr val="273239"/>
                </a:solidFill>
                <a:effectLst/>
                <a:latin typeface="Nunito" pitchFamily="2" charset="0"/>
              </a:rPr>
              <a:t>Singly-linked list</a:t>
            </a:r>
          </a:p>
          <a:p>
            <a:pPr algn="l" fontAlgn="base">
              <a:buFont typeface="Arial" panose="020B0604020202020204" pitchFamily="34" charset="0"/>
              <a:buChar char="•"/>
            </a:pPr>
            <a:r>
              <a:rPr lang="en-US" b="0" i="0" dirty="0">
                <a:solidFill>
                  <a:srgbClr val="273239"/>
                </a:solidFill>
                <a:effectLst/>
                <a:latin typeface="Nunito" pitchFamily="2" charset="0"/>
              </a:rPr>
              <a:t>Doubly linked list</a:t>
            </a:r>
          </a:p>
          <a:p>
            <a:pPr algn="l" fontAlgn="base">
              <a:buFont typeface="Arial" panose="020B0604020202020204" pitchFamily="34" charset="0"/>
              <a:buChar char="•"/>
            </a:pPr>
            <a:r>
              <a:rPr lang="en-US" b="0" i="0" dirty="0">
                <a:solidFill>
                  <a:srgbClr val="273239"/>
                </a:solidFill>
                <a:effectLst/>
                <a:latin typeface="Nunito" pitchFamily="2" charset="0"/>
              </a:rPr>
              <a:t>Circular linked list</a:t>
            </a:r>
          </a:p>
          <a:p>
            <a:pPr algn="l" fontAlgn="base">
              <a:buFont typeface="Arial" panose="020B0604020202020204" pitchFamily="34" charset="0"/>
              <a:buChar char="•"/>
            </a:pPr>
            <a:r>
              <a:rPr lang="en-US" b="0" i="0" dirty="0">
                <a:solidFill>
                  <a:srgbClr val="273239"/>
                </a:solidFill>
                <a:effectLst/>
                <a:latin typeface="Nunito" pitchFamily="2" charset="0"/>
              </a:rPr>
              <a:t>Doubly circular linked list</a:t>
            </a:r>
          </a:p>
          <a:p>
            <a:endParaRPr lang="en-IN" dirty="0"/>
          </a:p>
        </p:txBody>
      </p:sp>
    </p:spTree>
    <p:extLst>
      <p:ext uri="{BB962C8B-B14F-4D97-AF65-F5344CB8AC3E}">
        <p14:creationId xmlns:p14="http://schemas.microsoft.com/office/powerpoint/2010/main" val="39409867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19890-7022-4444-9420-B633951F5362}"/>
              </a:ext>
            </a:extLst>
          </p:cNvPr>
          <p:cNvSpPr>
            <a:spLocks noGrp="1"/>
          </p:cNvSpPr>
          <p:nvPr>
            <p:ph type="title"/>
          </p:nvPr>
        </p:nvSpPr>
        <p:spPr/>
        <p:txBody>
          <a:bodyPr/>
          <a:lstStyle/>
          <a:p>
            <a:r>
              <a:rPr lang="en-IN" dirty="0"/>
              <a:t>Linked list</a:t>
            </a:r>
          </a:p>
        </p:txBody>
      </p:sp>
      <p:pic>
        <p:nvPicPr>
          <p:cNvPr id="6146" name="Picture 2" descr="Lightbox">
            <a:extLst>
              <a:ext uri="{FF2B5EF4-FFF2-40B4-BE49-F238E27FC236}">
                <a16:creationId xmlns:a16="http://schemas.microsoft.com/office/drawing/2014/main" id="{F24F53F8-BC41-42E5-A39C-955E4EDA04E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81262" y="3196431"/>
            <a:ext cx="7229475" cy="160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5577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596A0-EEAF-4427-9CFE-0342ADBC2DC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0CD7B6-7C2B-406F-A7E0-6A6F6A34E04A}"/>
              </a:ext>
            </a:extLst>
          </p:cNvPr>
          <p:cNvSpPr>
            <a:spLocks noGrp="1"/>
          </p:cNvSpPr>
          <p:nvPr>
            <p:ph idx="1"/>
          </p:nvPr>
        </p:nvSpPr>
        <p:spPr/>
        <p:txBody>
          <a:bodyPr>
            <a:normAutofit fontScale="92500" lnSpcReduction="10000"/>
          </a:bodyPr>
          <a:lstStyle/>
          <a:p>
            <a:pPr algn="just"/>
            <a:r>
              <a:rPr lang="en-US" b="0" i="0" dirty="0">
                <a:solidFill>
                  <a:srgbClr val="333333"/>
                </a:solidFill>
                <a:effectLst/>
                <a:latin typeface="inter-regular"/>
              </a:rPr>
              <a:t>Data elements in this data structure are represented by the Nodes, connected using links or pointers. </a:t>
            </a:r>
          </a:p>
          <a:p>
            <a:pPr algn="just"/>
            <a:r>
              <a:rPr lang="en-US" b="0" i="0" dirty="0">
                <a:solidFill>
                  <a:srgbClr val="333333"/>
                </a:solidFill>
                <a:effectLst/>
                <a:latin typeface="inter-regular"/>
              </a:rPr>
              <a:t>Each node contains two fields, the information field consists of the actual data, and the pointer field consists of the address of the subsequent nodes in the list. </a:t>
            </a:r>
          </a:p>
          <a:p>
            <a:pPr algn="just"/>
            <a:r>
              <a:rPr lang="en-US" b="0" i="0" dirty="0">
                <a:solidFill>
                  <a:srgbClr val="333333"/>
                </a:solidFill>
                <a:effectLst/>
                <a:latin typeface="inter-regular"/>
              </a:rPr>
              <a:t>The pointer of the last node of the linked list consists of a null pointer, as it points to nothing. </a:t>
            </a:r>
          </a:p>
          <a:p>
            <a:pPr algn="just"/>
            <a:r>
              <a:rPr lang="en-US" b="0" i="0" dirty="0">
                <a:solidFill>
                  <a:srgbClr val="333333"/>
                </a:solidFill>
                <a:effectLst/>
                <a:latin typeface="inter-regular"/>
              </a:rPr>
              <a:t>Unlike the Arrays, the user can dynamically adjust the size of a Linked List as per the requirements.</a:t>
            </a:r>
          </a:p>
          <a:p>
            <a:pPr marL="0" indent="0">
              <a:buNone/>
            </a:pPr>
            <a:br>
              <a:rPr lang="en-US" dirty="0"/>
            </a:br>
            <a:endParaRPr lang="en-IN" dirty="0"/>
          </a:p>
        </p:txBody>
      </p:sp>
    </p:spTree>
    <p:extLst>
      <p:ext uri="{BB962C8B-B14F-4D97-AF65-F5344CB8AC3E}">
        <p14:creationId xmlns:p14="http://schemas.microsoft.com/office/powerpoint/2010/main" val="715956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B3AE7-5E1E-4274-BBA4-BA9AF5832980}"/>
              </a:ext>
            </a:extLst>
          </p:cNvPr>
          <p:cNvSpPr>
            <a:spLocks noGrp="1"/>
          </p:cNvSpPr>
          <p:nvPr>
            <p:ph type="title"/>
          </p:nvPr>
        </p:nvSpPr>
        <p:spPr/>
        <p:txBody>
          <a:bodyPr>
            <a:normAutofit fontScale="90000"/>
          </a:bodyPr>
          <a:lstStyle/>
          <a:p>
            <a:r>
              <a:rPr lang="en-US" b="1" i="0" dirty="0">
                <a:solidFill>
                  <a:srgbClr val="333333"/>
                </a:solidFill>
                <a:effectLst/>
                <a:latin typeface="inter-bold"/>
              </a:rPr>
              <a:t>Linked Lists can be classified into different types:</a:t>
            </a:r>
            <a:br>
              <a:rPr lang="en-US" b="0" i="0" dirty="0">
                <a:solidFill>
                  <a:srgbClr val="333333"/>
                </a:solidFill>
                <a:effectLst/>
                <a:latin typeface="inter-regular"/>
              </a:rPr>
            </a:br>
            <a:endParaRPr lang="en-IN" dirty="0"/>
          </a:p>
        </p:txBody>
      </p:sp>
      <p:sp>
        <p:nvSpPr>
          <p:cNvPr id="3" name="Content Placeholder 2">
            <a:extLst>
              <a:ext uri="{FF2B5EF4-FFF2-40B4-BE49-F238E27FC236}">
                <a16:creationId xmlns:a16="http://schemas.microsoft.com/office/drawing/2014/main" id="{C525F9E5-17D4-4E55-96E0-A5FA84A7CBF1}"/>
              </a:ext>
            </a:extLst>
          </p:cNvPr>
          <p:cNvSpPr>
            <a:spLocks noGrp="1"/>
          </p:cNvSpPr>
          <p:nvPr>
            <p:ph idx="1"/>
          </p:nvPr>
        </p:nvSpPr>
        <p:spPr/>
        <p:txBody>
          <a:bodyPr>
            <a:normAutofit fontScale="92500"/>
          </a:bodyPr>
          <a:lstStyle/>
          <a:p>
            <a:pPr algn="just">
              <a:buFont typeface="+mj-lt"/>
              <a:buAutoNum type="arabicPeriod"/>
            </a:pPr>
            <a:r>
              <a:rPr lang="en-US" b="1" i="0" dirty="0">
                <a:solidFill>
                  <a:srgbClr val="000000"/>
                </a:solidFill>
                <a:effectLst/>
                <a:latin typeface="inter-bold"/>
              </a:rPr>
              <a:t>Singly Linked List:</a:t>
            </a:r>
            <a:r>
              <a:rPr lang="en-US" b="0" i="0" dirty="0">
                <a:solidFill>
                  <a:srgbClr val="000000"/>
                </a:solidFill>
                <a:effectLst/>
                <a:latin typeface="inter-regular"/>
              </a:rPr>
              <a:t> A Singly Linked List is the most common type of Linked List. Each node has data and a pointer field containing an address to the next node.</a:t>
            </a:r>
          </a:p>
          <a:p>
            <a:pPr algn="just">
              <a:buFont typeface="+mj-lt"/>
              <a:buAutoNum type="arabicPeriod"/>
            </a:pPr>
            <a:r>
              <a:rPr lang="en-US" b="1" i="0" dirty="0">
                <a:solidFill>
                  <a:srgbClr val="000000"/>
                </a:solidFill>
                <a:effectLst/>
                <a:latin typeface="inter-bold"/>
              </a:rPr>
              <a:t>Doubly Linked List:</a:t>
            </a:r>
            <a:r>
              <a:rPr lang="en-US" b="0" i="0" dirty="0">
                <a:solidFill>
                  <a:srgbClr val="000000"/>
                </a:solidFill>
                <a:effectLst/>
                <a:latin typeface="inter-regular"/>
              </a:rPr>
              <a:t> A Doubly Linked List consists of an information field and two pointer fields. The information field contains the data. The first pointer field contains an address of the previous node, whereas another pointer field contains a reference to the next node. Thus, we can go in both directions (backward as well as forward).</a:t>
            </a:r>
          </a:p>
          <a:p>
            <a:pPr algn="just">
              <a:buFont typeface="+mj-lt"/>
              <a:buAutoNum type="arabicPeriod"/>
            </a:pPr>
            <a:r>
              <a:rPr lang="en-US" b="1" i="0" dirty="0">
                <a:solidFill>
                  <a:srgbClr val="000000"/>
                </a:solidFill>
                <a:effectLst/>
                <a:latin typeface="inter-bold"/>
              </a:rPr>
              <a:t>Circular Linked List:</a:t>
            </a:r>
            <a:r>
              <a:rPr lang="en-US" b="0" i="0" dirty="0">
                <a:solidFill>
                  <a:srgbClr val="000000"/>
                </a:solidFill>
                <a:effectLst/>
                <a:latin typeface="inter-regular"/>
              </a:rPr>
              <a:t> The Circular Linked List is similar to the Singly Linked List. The only key difference is that the last node contains the address of the first node, forming a circular loop in the Circular Linked List.</a:t>
            </a:r>
          </a:p>
          <a:p>
            <a:endParaRPr lang="en-IN" dirty="0"/>
          </a:p>
        </p:txBody>
      </p:sp>
    </p:spTree>
    <p:extLst>
      <p:ext uri="{BB962C8B-B14F-4D97-AF65-F5344CB8AC3E}">
        <p14:creationId xmlns:p14="http://schemas.microsoft.com/office/powerpoint/2010/main" val="6001886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A2FC2-0653-4A4C-90A2-8C5475DE85D5}"/>
              </a:ext>
            </a:extLst>
          </p:cNvPr>
          <p:cNvSpPr>
            <a:spLocks noGrp="1"/>
          </p:cNvSpPr>
          <p:nvPr>
            <p:ph type="title"/>
          </p:nvPr>
        </p:nvSpPr>
        <p:spPr/>
        <p:txBody>
          <a:bodyPr/>
          <a:lstStyle/>
          <a:p>
            <a:r>
              <a:rPr lang="en-US" b="1" i="0" dirty="0">
                <a:solidFill>
                  <a:srgbClr val="333333"/>
                </a:solidFill>
                <a:effectLst/>
                <a:latin typeface="inter-bold"/>
              </a:rPr>
              <a:t>Some Applications of Linked Lists:</a:t>
            </a:r>
            <a:br>
              <a:rPr lang="en-US" b="0" i="0" dirty="0">
                <a:solidFill>
                  <a:srgbClr val="333333"/>
                </a:solidFill>
                <a:effectLst/>
                <a:latin typeface="inter-regular"/>
              </a:rPr>
            </a:br>
            <a:endParaRPr lang="en-IN" dirty="0"/>
          </a:p>
        </p:txBody>
      </p:sp>
      <p:sp>
        <p:nvSpPr>
          <p:cNvPr id="3" name="Content Placeholder 2">
            <a:extLst>
              <a:ext uri="{FF2B5EF4-FFF2-40B4-BE49-F238E27FC236}">
                <a16:creationId xmlns:a16="http://schemas.microsoft.com/office/drawing/2014/main" id="{85437308-822A-497B-AEE3-D06F97D8AE0E}"/>
              </a:ext>
            </a:extLst>
          </p:cNvPr>
          <p:cNvSpPr>
            <a:spLocks noGrp="1"/>
          </p:cNvSpPr>
          <p:nvPr>
            <p:ph idx="1"/>
          </p:nvPr>
        </p:nvSpPr>
        <p:spPr/>
        <p:txBody>
          <a:bodyPr>
            <a:normAutofit fontScale="92500" lnSpcReduction="20000"/>
          </a:bodyPr>
          <a:lstStyle/>
          <a:p>
            <a:pPr algn="just">
              <a:buFont typeface="+mj-lt"/>
              <a:buAutoNum type="arabicPeriod"/>
            </a:pPr>
            <a:r>
              <a:rPr lang="en-US" b="0" i="0" dirty="0">
                <a:solidFill>
                  <a:srgbClr val="000000"/>
                </a:solidFill>
                <a:effectLst/>
                <a:latin typeface="inter-regular"/>
              </a:rPr>
              <a:t>The Linked Lists help us implement stacks, queues, binary trees, and graphs of predefined size.</a:t>
            </a:r>
          </a:p>
          <a:p>
            <a:pPr algn="just">
              <a:buFont typeface="+mj-lt"/>
              <a:buAutoNum type="arabicPeriod"/>
            </a:pPr>
            <a:r>
              <a:rPr lang="en-US" b="0" i="0" dirty="0">
                <a:solidFill>
                  <a:srgbClr val="000000"/>
                </a:solidFill>
                <a:effectLst/>
                <a:latin typeface="inter-regular"/>
              </a:rPr>
              <a:t>We can also implement Operating System's function for dynamic memory management.</a:t>
            </a:r>
          </a:p>
          <a:p>
            <a:pPr algn="just">
              <a:buFont typeface="+mj-lt"/>
              <a:buAutoNum type="arabicPeriod"/>
            </a:pPr>
            <a:r>
              <a:rPr lang="en-US" b="0" i="0" dirty="0">
                <a:solidFill>
                  <a:srgbClr val="000000"/>
                </a:solidFill>
                <a:effectLst/>
                <a:latin typeface="inter-regular"/>
              </a:rPr>
              <a:t>Linked Lists also allow polynomial implementation for mathematical operations.</a:t>
            </a:r>
          </a:p>
          <a:p>
            <a:pPr algn="just">
              <a:buFont typeface="+mj-lt"/>
              <a:buAutoNum type="arabicPeriod"/>
            </a:pPr>
            <a:r>
              <a:rPr lang="en-US" b="0" i="0" dirty="0">
                <a:solidFill>
                  <a:srgbClr val="000000"/>
                </a:solidFill>
                <a:effectLst/>
                <a:latin typeface="inter-regular"/>
              </a:rPr>
              <a:t>We can use Circular Linked List to implement Operating Systems or application functions that Round Robin execution of tasks.</a:t>
            </a:r>
          </a:p>
          <a:p>
            <a:pPr algn="just">
              <a:buFont typeface="+mj-lt"/>
              <a:buAutoNum type="arabicPeriod"/>
            </a:pPr>
            <a:r>
              <a:rPr lang="en-US" b="0" i="0" dirty="0">
                <a:solidFill>
                  <a:srgbClr val="000000"/>
                </a:solidFill>
                <a:effectLst/>
                <a:latin typeface="inter-regular"/>
              </a:rPr>
              <a:t>Circular Linked List is also helpful in a Slide Show where a user requires to go back to the first slide after the last slide is presented.</a:t>
            </a:r>
          </a:p>
          <a:p>
            <a:pPr algn="just">
              <a:buFont typeface="+mj-lt"/>
              <a:buAutoNum type="arabicPeriod"/>
            </a:pPr>
            <a:r>
              <a:rPr lang="en-US" b="0" i="0" dirty="0">
                <a:solidFill>
                  <a:srgbClr val="000000"/>
                </a:solidFill>
                <a:effectLst/>
                <a:latin typeface="inter-regular"/>
              </a:rPr>
              <a:t>Doubly Linked List is utilized to implement forward and backward buttons in a browser to move forward and backward in the opened pages of a website.</a:t>
            </a:r>
          </a:p>
          <a:p>
            <a:endParaRPr lang="en-IN" dirty="0"/>
          </a:p>
        </p:txBody>
      </p:sp>
    </p:spTree>
    <p:extLst>
      <p:ext uri="{BB962C8B-B14F-4D97-AF65-F5344CB8AC3E}">
        <p14:creationId xmlns:p14="http://schemas.microsoft.com/office/powerpoint/2010/main" val="2538034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FB0A9-BEAA-46FC-9831-094A45A7073A}"/>
              </a:ext>
            </a:extLst>
          </p:cNvPr>
          <p:cNvSpPr>
            <a:spLocks noGrp="1"/>
          </p:cNvSpPr>
          <p:nvPr>
            <p:ph type="title"/>
          </p:nvPr>
        </p:nvSpPr>
        <p:spPr/>
        <p:txBody>
          <a:bodyPr/>
          <a:lstStyle/>
          <a:p>
            <a:r>
              <a:rPr lang="en-IN" dirty="0"/>
              <a:t>STACKS</a:t>
            </a:r>
          </a:p>
        </p:txBody>
      </p:sp>
      <p:sp>
        <p:nvSpPr>
          <p:cNvPr id="3" name="Content Placeholder 2">
            <a:extLst>
              <a:ext uri="{FF2B5EF4-FFF2-40B4-BE49-F238E27FC236}">
                <a16:creationId xmlns:a16="http://schemas.microsoft.com/office/drawing/2014/main" id="{C4570DBE-9651-4AB6-B7E6-C29430361FE8}"/>
              </a:ext>
            </a:extLst>
          </p:cNvPr>
          <p:cNvSpPr>
            <a:spLocks noGrp="1"/>
          </p:cNvSpPr>
          <p:nvPr>
            <p:ph idx="1"/>
          </p:nvPr>
        </p:nvSpPr>
        <p:spPr/>
        <p:txBody>
          <a:bodyPr/>
          <a:lstStyle/>
          <a:p>
            <a:r>
              <a:rPr lang="en-US" b="0" i="0" dirty="0">
                <a:solidFill>
                  <a:srgbClr val="333333"/>
                </a:solidFill>
                <a:effectLst/>
                <a:latin typeface="inter-regular"/>
              </a:rPr>
              <a:t>A </a:t>
            </a:r>
            <a:r>
              <a:rPr lang="en-US" b="1" i="0" dirty="0">
                <a:solidFill>
                  <a:srgbClr val="333333"/>
                </a:solidFill>
                <a:effectLst/>
                <a:latin typeface="inter-bold"/>
              </a:rPr>
              <a:t>Stack</a:t>
            </a:r>
            <a:r>
              <a:rPr lang="en-US" b="0" i="0" dirty="0">
                <a:solidFill>
                  <a:srgbClr val="333333"/>
                </a:solidFill>
                <a:effectLst/>
                <a:latin typeface="inter-regular"/>
              </a:rPr>
              <a:t> is a Linear Data Structure that follows the </a:t>
            </a:r>
            <a:r>
              <a:rPr lang="en-US" b="1" i="0" dirty="0">
                <a:solidFill>
                  <a:srgbClr val="333333"/>
                </a:solidFill>
                <a:effectLst/>
                <a:latin typeface="inter-bold"/>
              </a:rPr>
              <a:t>LIFO</a:t>
            </a:r>
            <a:r>
              <a:rPr lang="en-US" b="0" i="0" dirty="0">
                <a:solidFill>
                  <a:srgbClr val="333333"/>
                </a:solidFill>
                <a:effectLst/>
                <a:latin typeface="inter-regular"/>
              </a:rPr>
              <a:t> (Last In, First Out) principle that allows operations like insertion and deletion from one end of the Stack, i.e., Top.</a:t>
            </a:r>
          </a:p>
          <a:p>
            <a:r>
              <a:rPr lang="en-US" b="0" i="0" dirty="0">
                <a:solidFill>
                  <a:srgbClr val="333333"/>
                </a:solidFill>
                <a:effectLst/>
                <a:latin typeface="inter-regular"/>
              </a:rPr>
              <a:t> Stacks can be implemented with the help of contiguous memory, an Array, and non-contiguous memory, a Linked List. </a:t>
            </a:r>
          </a:p>
          <a:p>
            <a:r>
              <a:rPr lang="en-US" b="0" i="0" dirty="0">
                <a:solidFill>
                  <a:srgbClr val="333333"/>
                </a:solidFill>
                <a:effectLst/>
                <a:latin typeface="inter-regular"/>
              </a:rPr>
              <a:t>Real-life examples of Stacks are piles of books, a deck of cards, piles of money, and many more.</a:t>
            </a:r>
            <a:endParaRPr lang="en-IN" dirty="0"/>
          </a:p>
        </p:txBody>
      </p:sp>
    </p:spTree>
    <p:extLst>
      <p:ext uri="{BB962C8B-B14F-4D97-AF65-F5344CB8AC3E}">
        <p14:creationId xmlns:p14="http://schemas.microsoft.com/office/powerpoint/2010/main" val="42309156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49CB5-8F53-4A46-AEA5-5A0363E479E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DF959FA-8140-4C85-9860-F7273064C79E}"/>
              </a:ext>
            </a:extLst>
          </p:cNvPr>
          <p:cNvPicPr>
            <a:picLocks noGrp="1" noChangeAspect="1"/>
          </p:cNvPicPr>
          <p:nvPr>
            <p:ph idx="1"/>
          </p:nvPr>
        </p:nvPicPr>
        <p:blipFill>
          <a:blip r:embed="rId2"/>
          <a:stretch>
            <a:fillRect/>
          </a:stretch>
        </p:blipFill>
        <p:spPr>
          <a:xfrm>
            <a:off x="4530644" y="1848533"/>
            <a:ext cx="3130711" cy="4305521"/>
          </a:xfrm>
        </p:spPr>
      </p:pic>
    </p:spTree>
    <p:extLst>
      <p:ext uri="{BB962C8B-B14F-4D97-AF65-F5344CB8AC3E}">
        <p14:creationId xmlns:p14="http://schemas.microsoft.com/office/powerpoint/2010/main" val="2557231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3C19B-9D71-41F5-A2E8-69876C799FB2}"/>
              </a:ext>
            </a:extLst>
          </p:cNvPr>
          <p:cNvSpPr>
            <a:spLocks noGrp="1"/>
          </p:cNvSpPr>
          <p:nvPr>
            <p:ph type="title"/>
          </p:nvPr>
        </p:nvSpPr>
        <p:spPr/>
        <p:txBody>
          <a:bodyPr/>
          <a:lstStyle/>
          <a:p>
            <a:endParaRPr lang="en-IN"/>
          </a:p>
        </p:txBody>
      </p:sp>
      <p:pic>
        <p:nvPicPr>
          <p:cNvPr id="7170" name="Picture 2" descr="Lightbox">
            <a:extLst>
              <a:ext uri="{FF2B5EF4-FFF2-40B4-BE49-F238E27FC236}">
                <a16:creationId xmlns:a16="http://schemas.microsoft.com/office/drawing/2014/main" id="{0F56EE5A-1580-4FEA-AFB6-C60B9144BD3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95612" y="2186781"/>
            <a:ext cx="6200775" cy="3629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26380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2CAC4-AAF6-4491-8983-1B8A36785DD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B3F01FB-8F20-4F7F-BF67-DF3890A9C659}"/>
              </a:ext>
            </a:extLst>
          </p:cNvPr>
          <p:cNvSpPr>
            <a:spLocks noGrp="1"/>
          </p:cNvSpPr>
          <p:nvPr>
            <p:ph idx="1"/>
          </p:nvPr>
        </p:nvSpPr>
        <p:spPr/>
        <p:txBody>
          <a:bodyPr/>
          <a:lstStyle/>
          <a:p>
            <a:pPr algn="just"/>
            <a:r>
              <a:rPr lang="en-US" b="1" i="0" dirty="0">
                <a:solidFill>
                  <a:srgbClr val="333333"/>
                </a:solidFill>
                <a:effectLst/>
                <a:latin typeface="inter-bold"/>
              </a:rPr>
              <a:t>The primary operations in the Stack are as follows:</a:t>
            </a:r>
            <a:endParaRPr lang="en-US" b="0" i="0" dirty="0">
              <a:solidFill>
                <a:srgbClr val="333333"/>
              </a:solidFill>
              <a:effectLst/>
              <a:latin typeface="inter-regular"/>
            </a:endParaRPr>
          </a:p>
          <a:p>
            <a:pPr algn="just">
              <a:buFont typeface="+mj-lt"/>
              <a:buAutoNum type="arabicPeriod"/>
            </a:pPr>
            <a:r>
              <a:rPr lang="en-US" b="1" i="0" dirty="0">
                <a:solidFill>
                  <a:srgbClr val="000000"/>
                </a:solidFill>
                <a:effectLst/>
                <a:latin typeface="inter-bold"/>
              </a:rPr>
              <a:t>Push:</a:t>
            </a:r>
            <a:r>
              <a:rPr lang="en-US" b="0" i="0" dirty="0">
                <a:solidFill>
                  <a:srgbClr val="000000"/>
                </a:solidFill>
                <a:effectLst/>
                <a:latin typeface="inter-regular"/>
              </a:rPr>
              <a:t> Operation to insert a new element in the Stack is termed as Push Operation.</a:t>
            </a:r>
          </a:p>
          <a:p>
            <a:pPr algn="just">
              <a:buFont typeface="+mj-lt"/>
              <a:buAutoNum type="arabicPeriod"/>
            </a:pPr>
            <a:r>
              <a:rPr lang="en-US" b="1" i="0" dirty="0">
                <a:solidFill>
                  <a:srgbClr val="000000"/>
                </a:solidFill>
                <a:effectLst/>
                <a:latin typeface="inter-bold"/>
              </a:rPr>
              <a:t>Pop:</a:t>
            </a:r>
            <a:r>
              <a:rPr lang="en-US" b="0" i="0" dirty="0">
                <a:solidFill>
                  <a:srgbClr val="000000"/>
                </a:solidFill>
                <a:effectLst/>
                <a:latin typeface="inter-regular"/>
              </a:rPr>
              <a:t> Operation to remove or delete elements from the Stack is termed as Pop Operation.</a:t>
            </a:r>
          </a:p>
          <a:p>
            <a:endParaRPr lang="en-IN" dirty="0"/>
          </a:p>
        </p:txBody>
      </p:sp>
    </p:spTree>
    <p:extLst>
      <p:ext uri="{BB962C8B-B14F-4D97-AF65-F5344CB8AC3E}">
        <p14:creationId xmlns:p14="http://schemas.microsoft.com/office/powerpoint/2010/main" val="19716760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D0486-61AE-47BC-ACCE-D61309A7FD8B}"/>
              </a:ext>
            </a:extLst>
          </p:cNvPr>
          <p:cNvSpPr>
            <a:spLocks noGrp="1"/>
          </p:cNvSpPr>
          <p:nvPr>
            <p:ph type="title"/>
          </p:nvPr>
        </p:nvSpPr>
        <p:spPr/>
        <p:txBody>
          <a:bodyPr/>
          <a:lstStyle/>
          <a:p>
            <a:r>
              <a:rPr lang="en-IN" dirty="0"/>
              <a:t>Applications of stack</a:t>
            </a:r>
          </a:p>
        </p:txBody>
      </p:sp>
      <p:sp>
        <p:nvSpPr>
          <p:cNvPr id="3" name="Content Placeholder 2">
            <a:extLst>
              <a:ext uri="{FF2B5EF4-FFF2-40B4-BE49-F238E27FC236}">
                <a16:creationId xmlns:a16="http://schemas.microsoft.com/office/drawing/2014/main" id="{D7A2C67D-21CF-4DD0-AF81-198D230919B0}"/>
              </a:ext>
            </a:extLst>
          </p:cNvPr>
          <p:cNvSpPr>
            <a:spLocks noGrp="1"/>
          </p:cNvSpPr>
          <p:nvPr>
            <p:ph idx="1"/>
          </p:nvPr>
        </p:nvSpPr>
        <p:spPr/>
        <p:txBody>
          <a:bodyPr>
            <a:normAutofit fontScale="62500" lnSpcReduction="20000"/>
          </a:bodyPr>
          <a:lstStyle/>
          <a:p>
            <a:pPr algn="just">
              <a:buFont typeface="+mj-lt"/>
              <a:buAutoNum type="arabicPeriod"/>
            </a:pPr>
            <a:r>
              <a:rPr lang="en-US" b="0" i="0" dirty="0">
                <a:solidFill>
                  <a:srgbClr val="000000"/>
                </a:solidFill>
                <a:effectLst/>
                <a:latin typeface="inter-regular"/>
              </a:rPr>
              <a:t>The Stack is used as a Temporary Storage Structure for recursive operations.</a:t>
            </a:r>
          </a:p>
          <a:p>
            <a:pPr algn="just">
              <a:buFont typeface="+mj-lt"/>
              <a:buAutoNum type="arabicPeriod"/>
            </a:pPr>
            <a:r>
              <a:rPr lang="en-US" b="0" i="0" dirty="0">
                <a:solidFill>
                  <a:srgbClr val="000000"/>
                </a:solidFill>
                <a:effectLst/>
                <a:latin typeface="inter-regular"/>
              </a:rPr>
              <a:t>Stack is also utilized as Auxiliary Storage Structure for function calls, nested operations, and deferred/postponed functions.</a:t>
            </a:r>
          </a:p>
          <a:p>
            <a:pPr algn="just">
              <a:buFont typeface="+mj-lt"/>
              <a:buAutoNum type="arabicPeriod"/>
            </a:pPr>
            <a:r>
              <a:rPr lang="en-US" b="0" i="0" dirty="0">
                <a:solidFill>
                  <a:srgbClr val="000000"/>
                </a:solidFill>
                <a:effectLst/>
                <a:latin typeface="inter-regular"/>
              </a:rPr>
              <a:t>We can manage function calls using Stacks.</a:t>
            </a:r>
          </a:p>
          <a:p>
            <a:pPr algn="just">
              <a:buFont typeface="+mj-lt"/>
              <a:buAutoNum type="arabicPeriod"/>
            </a:pPr>
            <a:r>
              <a:rPr lang="en-US" b="0" i="0" dirty="0">
                <a:solidFill>
                  <a:srgbClr val="000000"/>
                </a:solidFill>
                <a:effectLst/>
                <a:latin typeface="inter-regular"/>
              </a:rPr>
              <a:t>Stacks are also utilized to evaluate the arithmetic expressions in different programming languages.</a:t>
            </a:r>
          </a:p>
          <a:p>
            <a:pPr algn="just">
              <a:buFont typeface="+mj-lt"/>
              <a:buAutoNum type="arabicPeriod"/>
            </a:pPr>
            <a:r>
              <a:rPr lang="en-US" b="0" i="0" dirty="0">
                <a:solidFill>
                  <a:srgbClr val="000000"/>
                </a:solidFill>
                <a:effectLst/>
                <a:latin typeface="inter-regular"/>
              </a:rPr>
              <a:t>Stacks are also helpful in converting infix expressions to postfix expressions.</a:t>
            </a:r>
          </a:p>
          <a:p>
            <a:pPr algn="just">
              <a:buFont typeface="+mj-lt"/>
              <a:buAutoNum type="arabicPeriod"/>
            </a:pPr>
            <a:r>
              <a:rPr lang="en-US" b="0" i="0" dirty="0">
                <a:solidFill>
                  <a:srgbClr val="000000"/>
                </a:solidFill>
                <a:effectLst/>
                <a:latin typeface="inter-regular"/>
              </a:rPr>
              <a:t>Stacks allow us to check the expression's syntax in the programming environment.</a:t>
            </a:r>
          </a:p>
          <a:p>
            <a:pPr algn="just">
              <a:buFont typeface="+mj-lt"/>
              <a:buAutoNum type="arabicPeriod"/>
            </a:pPr>
            <a:r>
              <a:rPr lang="en-US" b="0" i="0" dirty="0">
                <a:solidFill>
                  <a:srgbClr val="000000"/>
                </a:solidFill>
                <a:effectLst/>
                <a:latin typeface="inter-regular"/>
              </a:rPr>
              <a:t>We can match parenthesis using Stacks.</a:t>
            </a:r>
          </a:p>
          <a:p>
            <a:pPr algn="just">
              <a:buFont typeface="+mj-lt"/>
              <a:buAutoNum type="arabicPeriod"/>
            </a:pPr>
            <a:r>
              <a:rPr lang="en-US" b="0" i="0" dirty="0">
                <a:solidFill>
                  <a:srgbClr val="000000"/>
                </a:solidFill>
                <a:effectLst/>
                <a:latin typeface="inter-regular"/>
              </a:rPr>
              <a:t>Stacks can be used to reverse a String.</a:t>
            </a:r>
          </a:p>
          <a:p>
            <a:pPr algn="just">
              <a:buFont typeface="+mj-lt"/>
              <a:buAutoNum type="arabicPeriod"/>
            </a:pPr>
            <a:r>
              <a:rPr lang="en-US" b="0" i="0" dirty="0">
                <a:solidFill>
                  <a:srgbClr val="000000"/>
                </a:solidFill>
                <a:effectLst/>
                <a:latin typeface="inter-regular"/>
              </a:rPr>
              <a:t>Stacks are helpful in solving problems based on backtracking.</a:t>
            </a:r>
          </a:p>
          <a:p>
            <a:pPr algn="just">
              <a:buFont typeface="+mj-lt"/>
              <a:buAutoNum type="arabicPeriod"/>
            </a:pPr>
            <a:r>
              <a:rPr lang="en-US" b="0" i="0" dirty="0">
                <a:solidFill>
                  <a:srgbClr val="000000"/>
                </a:solidFill>
                <a:effectLst/>
                <a:latin typeface="inter-regular"/>
              </a:rPr>
              <a:t>We can use Stacks in depth-first search in graph and tree traversal.</a:t>
            </a:r>
          </a:p>
          <a:p>
            <a:pPr algn="just">
              <a:buFont typeface="+mj-lt"/>
              <a:buAutoNum type="arabicPeriod"/>
            </a:pPr>
            <a:r>
              <a:rPr lang="en-US" b="0" i="0" dirty="0">
                <a:solidFill>
                  <a:srgbClr val="000000"/>
                </a:solidFill>
                <a:effectLst/>
                <a:latin typeface="inter-regular"/>
              </a:rPr>
              <a:t>Stacks are also used in Operating System functions.</a:t>
            </a:r>
          </a:p>
          <a:p>
            <a:pPr algn="just">
              <a:buFont typeface="+mj-lt"/>
              <a:buAutoNum type="arabicPeriod"/>
            </a:pPr>
            <a:r>
              <a:rPr lang="en-US" b="0" i="0" dirty="0">
                <a:solidFill>
                  <a:srgbClr val="000000"/>
                </a:solidFill>
                <a:effectLst/>
                <a:latin typeface="inter-regular"/>
              </a:rPr>
              <a:t>Stacks are also used in UNDO and REDO functions in an edit.</a:t>
            </a:r>
          </a:p>
          <a:p>
            <a:endParaRPr lang="en-IN" dirty="0"/>
          </a:p>
        </p:txBody>
      </p:sp>
    </p:spTree>
    <p:extLst>
      <p:ext uri="{BB962C8B-B14F-4D97-AF65-F5344CB8AC3E}">
        <p14:creationId xmlns:p14="http://schemas.microsoft.com/office/powerpoint/2010/main" val="77962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F2F4E-C8FE-4CB9-A7F1-E4FF51D7BD6B}"/>
              </a:ext>
            </a:extLst>
          </p:cNvPr>
          <p:cNvSpPr>
            <a:spLocks noGrp="1"/>
          </p:cNvSpPr>
          <p:nvPr>
            <p:ph type="title"/>
          </p:nvPr>
        </p:nvSpPr>
        <p:spPr/>
        <p:txBody>
          <a:bodyPr/>
          <a:lstStyle/>
          <a:p>
            <a:r>
              <a:rPr lang="en-US" b="1" i="0" dirty="0">
                <a:solidFill>
                  <a:srgbClr val="333333"/>
                </a:solidFill>
                <a:effectLst/>
                <a:latin typeface="inter-bold"/>
              </a:rPr>
              <a:t>Queues</a:t>
            </a:r>
            <a:br>
              <a:rPr lang="en-US" b="0" i="0" dirty="0">
                <a:solidFill>
                  <a:srgbClr val="333333"/>
                </a:solidFill>
                <a:effectLst/>
                <a:latin typeface="inter-regular"/>
              </a:rPr>
            </a:br>
            <a:endParaRPr lang="en-IN" dirty="0"/>
          </a:p>
        </p:txBody>
      </p:sp>
      <p:sp>
        <p:nvSpPr>
          <p:cNvPr id="3" name="Content Placeholder 2">
            <a:extLst>
              <a:ext uri="{FF2B5EF4-FFF2-40B4-BE49-F238E27FC236}">
                <a16:creationId xmlns:a16="http://schemas.microsoft.com/office/drawing/2014/main" id="{AB81F35A-0448-4FB2-A6DE-B3A7FE543B12}"/>
              </a:ext>
            </a:extLst>
          </p:cNvPr>
          <p:cNvSpPr>
            <a:spLocks noGrp="1"/>
          </p:cNvSpPr>
          <p:nvPr>
            <p:ph idx="1"/>
          </p:nvPr>
        </p:nvSpPr>
        <p:spPr/>
        <p:txBody>
          <a:bodyPr>
            <a:normAutofit fontScale="92500" lnSpcReduction="10000"/>
          </a:bodyPr>
          <a:lstStyle/>
          <a:p>
            <a:pPr algn="just"/>
            <a:r>
              <a:rPr lang="en-US" b="0" i="0" dirty="0">
                <a:solidFill>
                  <a:srgbClr val="333333"/>
                </a:solidFill>
                <a:effectLst/>
                <a:latin typeface="inter-regular"/>
              </a:rPr>
              <a:t>A </a:t>
            </a:r>
            <a:r>
              <a:rPr lang="en-US" b="1" i="0" dirty="0">
                <a:solidFill>
                  <a:srgbClr val="333333"/>
                </a:solidFill>
                <a:effectLst/>
                <a:latin typeface="inter-bold"/>
              </a:rPr>
              <a:t>Queue</a:t>
            </a:r>
            <a:r>
              <a:rPr lang="en-US" b="0" i="0" dirty="0">
                <a:solidFill>
                  <a:srgbClr val="333333"/>
                </a:solidFill>
                <a:effectLst/>
                <a:latin typeface="inter-regular"/>
              </a:rPr>
              <a:t> is a linear data structure similar to a Stack with some limitations on the insertion and deletion of the elements. </a:t>
            </a:r>
          </a:p>
          <a:p>
            <a:pPr algn="just"/>
            <a:r>
              <a:rPr lang="en-US" b="0" i="0" dirty="0">
                <a:solidFill>
                  <a:srgbClr val="333333"/>
                </a:solidFill>
                <a:effectLst/>
                <a:latin typeface="inter-regular"/>
              </a:rPr>
              <a:t>The insertion of an element in a Queue is done at one end, and the removal is done at another or opposite end. </a:t>
            </a:r>
          </a:p>
          <a:p>
            <a:pPr algn="just"/>
            <a:r>
              <a:rPr lang="en-US" b="0" i="0" dirty="0">
                <a:solidFill>
                  <a:srgbClr val="333333"/>
                </a:solidFill>
                <a:effectLst/>
                <a:latin typeface="inter-regular"/>
              </a:rPr>
              <a:t>Thus, we can conclude that the Queue data structure follows FIFO (First In, First Out) principle to manipulate the data elements. Implementation of Queues can be done using Arrays, Linked Lists, or Stacks. </a:t>
            </a:r>
          </a:p>
          <a:p>
            <a:pPr algn="just"/>
            <a:r>
              <a:rPr lang="en-US" b="0" i="0" dirty="0">
                <a:solidFill>
                  <a:srgbClr val="333333"/>
                </a:solidFill>
                <a:effectLst/>
                <a:latin typeface="inter-regular"/>
              </a:rPr>
              <a:t>Some real-life examples of Queues are a line at the ticket counter, an escalator, a car wash, and many more.</a:t>
            </a:r>
          </a:p>
          <a:p>
            <a:pPr marL="0" indent="0">
              <a:buNone/>
            </a:pPr>
            <a:br>
              <a:rPr lang="en-US" dirty="0"/>
            </a:br>
            <a:endParaRPr lang="en-IN" dirty="0"/>
          </a:p>
        </p:txBody>
      </p:sp>
    </p:spTree>
    <p:extLst>
      <p:ext uri="{BB962C8B-B14F-4D97-AF65-F5344CB8AC3E}">
        <p14:creationId xmlns:p14="http://schemas.microsoft.com/office/powerpoint/2010/main" val="2469307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E6967-25F1-4DA2-A458-955F063EB0C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97AF382-1EE4-491A-A8B3-3CA28A01EF82}"/>
              </a:ext>
            </a:extLst>
          </p:cNvPr>
          <p:cNvPicPr>
            <a:picLocks noGrp="1" noChangeAspect="1"/>
          </p:cNvPicPr>
          <p:nvPr>
            <p:ph idx="1"/>
          </p:nvPr>
        </p:nvPicPr>
        <p:blipFill>
          <a:blip r:embed="rId2"/>
          <a:stretch>
            <a:fillRect/>
          </a:stretch>
        </p:blipFill>
        <p:spPr>
          <a:xfrm>
            <a:off x="2733502" y="2207327"/>
            <a:ext cx="6724996" cy="3587934"/>
          </a:xfrm>
        </p:spPr>
      </p:pic>
    </p:spTree>
    <p:extLst>
      <p:ext uri="{BB962C8B-B14F-4D97-AF65-F5344CB8AC3E}">
        <p14:creationId xmlns:p14="http://schemas.microsoft.com/office/powerpoint/2010/main" val="37721043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FC789-019B-4622-81DF-60B90917219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B4754C8-E2A0-4FC6-80CC-F089B32E73C9}"/>
              </a:ext>
            </a:extLst>
          </p:cNvPr>
          <p:cNvSpPr>
            <a:spLocks noGrp="1"/>
          </p:cNvSpPr>
          <p:nvPr>
            <p:ph idx="1"/>
          </p:nvPr>
        </p:nvSpPr>
        <p:spPr/>
        <p:txBody>
          <a:bodyPr/>
          <a:lstStyle/>
          <a:p>
            <a:pPr algn="just"/>
            <a:r>
              <a:rPr lang="en-US" b="0" i="0" dirty="0">
                <a:solidFill>
                  <a:srgbClr val="333333"/>
                </a:solidFill>
                <a:effectLst/>
                <a:latin typeface="inter-regular"/>
              </a:rPr>
              <a:t>The following are the primary operations of the Queue:</a:t>
            </a:r>
          </a:p>
          <a:p>
            <a:pPr algn="just">
              <a:buFont typeface="+mj-lt"/>
              <a:buAutoNum type="arabicPeriod"/>
            </a:pPr>
            <a:r>
              <a:rPr lang="en-US" b="1" i="0" dirty="0">
                <a:solidFill>
                  <a:srgbClr val="000000"/>
                </a:solidFill>
                <a:effectLst/>
                <a:latin typeface="inter-bold"/>
              </a:rPr>
              <a:t>Enqueue:</a:t>
            </a:r>
            <a:r>
              <a:rPr lang="en-US" b="0" i="0" dirty="0">
                <a:solidFill>
                  <a:srgbClr val="000000"/>
                </a:solidFill>
                <a:effectLst/>
                <a:latin typeface="inter-regular"/>
              </a:rPr>
              <a:t> The insertion or Addition of some data elements to the Queue is called Enqueue. The element insertion is always done with the help of the rear pointer.</a:t>
            </a:r>
          </a:p>
          <a:p>
            <a:pPr algn="just">
              <a:buFont typeface="+mj-lt"/>
              <a:buAutoNum type="arabicPeriod"/>
            </a:pPr>
            <a:r>
              <a:rPr lang="en-US" b="1" i="0" dirty="0">
                <a:solidFill>
                  <a:srgbClr val="000000"/>
                </a:solidFill>
                <a:effectLst/>
                <a:latin typeface="inter-bold"/>
              </a:rPr>
              <a:t>Dequeue:</a:t>
            </a:r>
            <a:r>
              <a:rPr lang="en-US" b="0" i="0" dirty="0">
                <a:solidFill>
                  <a:srgbClr val="000000"/>
                </a:solidFill>
                <a:effectLst/>
                <a:latin typeface="inter-regular"/>
              </a:rPr>
              <a:t> Deleting or removing data elements from the Queue is termed Dequeue. The deletion of the element is always done with the help of the front pointer.</a:t>
            </a:r>
          </a:p>
          <a:p>
            <a:endParaRPr lang="en-IN" dirty="0"/>
          </a:p>
        </p:txBody>
      </p:sp>
    </p:spTree>
    <p:extLst>
      <p:ext uri="{BB962C8B-B14F-4D97-AF65-F5344CB8AC3E}">
        <p14:creationId xmlns:p14="http://schemas.microsoft.com/office/powerpoint/2010/main" val="7021788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B4975-855A-49C6-B429-1FB0E9FC164E}"/>
              </a:ext>
            </a:extLst>
          </p:cNvPr>
          <p:cNvSpPr>
            <a:spLocks noGrp="1"/>
          </p:cNvSpPr>
          <p:nvPr>
            <p:ph type="title"/>
          </p:nvPr>
        </p:nvSpPr>
        <p:spPr/>
        <p:txBody>
          <a:bodyPr/>
          <a:lstStyle/>
          <a:p>
            <a:endParaRPr lang="en-IN"/>
          </a:p>
        </p:txBody>
      </p:sp>
      <p:pic>
        <p:nvPicPr>
          <p:cNvPr id="8194" name="Picture 2" descr="Lightbox">
            <a:extLst>
              <a:ext uri="{FF2B5EF4-FFF2-40B4-BE49-F238E27FC236}">
                <a16:creationId xmlns:a16="http://schemas.microsoft.com/office/drawing/2014/main" id="{38389F82-6B76-401E-85BA-E551AE8251C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9005" y="1825625"/>
            <a:ext cx="869399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26160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17F88-E4D0-4489-9ACF-402136BFC84F}"/>
              </a:ext>
            </a:extLst>
          </p:cNvPr>
          <p:cNvSpPr>
            <a:spLocks noGrp="1"/>
          </p:cNvSpPr>
          <p:nvPr>
            <p:ph type="title"/>
          </p:nvPr>
        </p:nvSpPr>
        <p:spPr/>
        <p:txBody>
          <a:bodyPr/>
          <a:lstStyle/>
          <a:p>
            <a:r>
              <a:rPr lang="en-US" b="1" i="0" dirty="0">
                <a:solidFill>
                  <a:srgbClr val="273239"/>
                </a:solidFill>
                <a:effectLst/>
                <a:latin typeface="Nunito" pitchFamily="2" charset="0"/>
              </a:rPr>
              <a:t>Characteristics of a Queue: </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63B5497D-F8EC-4C35-900B-DC5DE0B2AD29}"/>
              </a:ext>
            </a:extLst>
          </p:cNvPr>
          <p:cNvSpPr>
            <a:spLocks noGrp="1"/>
          </p:cNvSpPr>
          <p:nvPr>
            <p:ph idx="1"/>
          </p:nvPr>
        </p:nvSpPr>
        <p:spPr/>
        <p:txBody>
          <a:bodyPr/>
          <a:lstStyle/>
          <a:p>
            <a:pPr algn="l" rtl="0" fontAlgn="base"/>
            <a:r>
              <a:rPr lang="en-US" b="0" i="0" dirty="0">
                <a:solidFill>
                  <a:srgbClr val="273239"/>
                </a:solidFill>
                <a:effectLst/>
                <a:latin typeface="Nunito" pitchFamily="2" charset="0"/>
              </a:rPr>
              <a:t>The queue has various different characteristics which are as follows:</a:t>
            </a:r>
          </a:p>
          <a:p>
            <a:pPr algn="l" fontAlgn="base">
              <a:buFont typeface="Arial" panose="020B0604020202020204" pitchFamily="34" charset="0"/>
              <a:buChar char="•"/>
            </a:pPr>
            <a:r>
              <a:rPr lang="en-US" b="0" i="0" dirty="0">
                <a:solidFill>
                  <a:srgbClr val="273239"/>
                </a:solidFill>
                <a:effectLst/>
                <a:latin typeface="Nunito" pitchFamily="2" charset="0"/>
              </a:rPr>
              <a:t>The queue is a FIFO (First In First Out) structure.</a:t>
            </a:r>
          </a:p>
          <a:p>
            <a:pPr algn="l" fontAlgn="base">
              <a:buFont typeface="Arial" panose="020B0604020202020204" pitchFamily="34" charset="0"/>
              <a:buChar char="•"/>
            </a:pPr>
            <a:r>
              <a:rPr lang="en-US" b="0" i="0" dirty="0">
                <a:solidFill>
                  <a:srgbClr val="273239"/>
                </a:solidFill>
                <a:effectLst/>
                <a:latin typeface="Nunito" pitchFamily="2" charset="0"/>
              </a:rPr>
              <a:t>To remove the last element of the Queue, all the elements inserted before the new element in the queue must be removed.</a:t>
            </a:r>
          </a:p>
          <a:p>
            <a:pPr algn="l" fontAlgn="base">
              <a:buFont typeface="Arial" panose="020B0604020202020204" pitchFamily="34" charset="0"/>
              <a:buChar char="•"/>
            </a:pPr>
            <a:r>
              <a:rPr lang="en-US" b="0" i="0" dirty="0">
                <a:solidFill>
                  <a:srgbClr val="273239"/>
                </a:solidFill>
                <a:effectLst/>
                <a:latin typeface="Nunito" pitchFamily="2" charset="0"/>
              </a:rPr>
              <a:t>A queue is an ordered list of elements of similar data types.</a:t>
            </a:r>
          </a:p>
          <a:p>
            <a:pPr marL="0" indent="0">
              <a:buNone/>
            </a:pPr>
            <a:endParaRPr lang="en-IN" dirty="0"/>
          </a:p>
        </p:txBody>
      </p:sp>
    </p:spTree>
    <p:extLst>
      <p:ext uri="{BB962C8B-B14F-4D97-AF65-F5344CB8AC3E}">
        <p14:creationId xmlns:p14="http://schemas.microsoft.com/office/powerpoint/2010/main" val="22863959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57C1E-0C06-44CD-A8A3-98508808ECBC}"/>
              </a:ext>
            </a:extLst>
          </p:cNvPr>
          <p:cNvSpPr>
            <a:spLocks noGrp="1"/>
          </p:cNvSpPr>
          <p:nvPr>
            <p:ph type="title"/>
          </p:nvPr>
        </p:nvSpPr>
        <p:spPr/>
        <p:txBody>
          <a:bodyPr/>
          <a:lstStyle/>
          <a:p>
            <a:r>
              <a:rPr lang="en-US" b="1" i="0" dirty="0">
                <a:solidFill>
                  <a:srgbClr val="273239"/>
                </a:solidFill>
                <a:effectLst/>
                <a:latin typeface="Nunito" pitchFamily="2" charset="0"/>
              </a:rPr>
              <a:t>Applications of Queue: </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03D5BAB7-E9AC-40BF-8F1F-42081C2D288A}"/>
              </a:ext>
            </a:extLst>
          </p:cNvPr>
          <p:cNvSpPr>
            <a:spLocks noGrp="1"/>
          </p:cNvSpPr>
          <p:nvPr>
            <p:ph idx="1"/>
          </p:nvPr>
        </p:nvSpPr>
        <p:spPr/>
        <p:txBody>
          <a:bodyPr>
            <a:normAutofit fontScale="85000" lnSpcReduction="20000"/>
          </a:bodyPr>
          <a:lstStyle/>
          <a:p>
            <a:pPr algn="l" fontAlgn="base">
              <a:buFont typeface="Arial" panose="020B0604020202020204" pitchFamily="34" charset="0"/>
              <a:buChar char="•"/>
            </a:pPr>
            <a:r>
              <a:rPr lang="en-US" b="0" i="0" dirty="0">
                <a:solidFill>
                  <a:srgbClr val="273239"/>
                </a:solidFill>
                <a:effectLst/>
                <a:latin typeface="Nunito" pitchFamily="2" charset="0"/>
              </a:rPr>
              <a:t>Queue is used for handling website traffic.</a:t>
            </a:r>
          </a:p>
          <a:p>
            <a:pPr algn="l" fontAlgn="base">
              <a:buFont typeface="Arial" panose="020B0604020202020204" pitchFamily="34" charset="0"/>
              <a:buChar char="•"/>
            </a:pPr>
            <a:r>
              <a:rPr lang="en-US" b="0" i="0" dirty="0">
                <a:solidFill>
                  <a:srgbClr val="273239"/>
                </a:solidFill>
                <a:effectLst/>
                <a:latin typeface="Nunito" pitchFamily="2" charset="0"/>
              </a:rPr>
              <a:t>It helps to maintain the playlist in media players.</a:t>
            </a:r>
          </a:p>
          <a:p>
            <a:pPr algn="l" fontAlgn="base">
              <a:buFont typeface="Arial" panose="020B0604020202020204" pitchFamily="34" charset="0"/>
              <a:buChar char="•"/>
            </a:pPr>
            <a:r>
              <a:rPr lang="en-US" b="0" i="0" dirty="0">
                <a:solidFill>
                  <a:srgbClr val="273239"/>
                </a:solidFill>
                <a:effectLst/>
                <a:latin typeface="Nunito" pitchFamily="2" charset="0"/>
              </a:rPr>
              <a:t>Queue is used in operating systems for handling interrupts.</a:t>
            </a:r>
          </a:p>
          <a:p>
            <a:pPr algn="l" fontAlgn="base">
              <a:buFont typeface="Arial" panose="020B0604020202020204" pitchFamily="34" charset="0"/>
              <a:buChar char="•"/>
            </a:pPr>
            <a:r>
              <a:rPr lang="en-US" b="0" i="0" dirty="0">
                <a:solidFill>
                  <a:srgbClr val="273239"/>
                </a:solidFill>
                <a:effectLst/>
                <a:latin typeface="Nunito" pitchFamily="2" charset="0"/>
              </a:rPr>
              <a:t>It helps in serving requests on a single shared resource, like a printer, CPU task scheduling, etc.</a:t>
            </a:r>
          </a:p>
          <a:p>
            <a:pPr algn="l" fontAlgn="base">
              <a:buFont typeface="Arial" panose="020B0604020202020204" pitchFamily="34" charset="0"/>
              <a:buChar char="•"/>
            </a:pPr>
            <a:r>
              <a:rPr lang="en-US" b="0" i="0" dirty="0">
                <a:solidFill>
                  <a:srgbClr val="273239"/>
                </a:solidFill>
                <a:effectLst/>
                <a:latin typeface="Nunito" pitchFamily="2" charset="0"/>
              </a:rPr>
              <a:t>It is used in the asynchronous transfer of data e.g. pipes, file IO, and sockets.</a:t>
            </a:r>
          </a:p>
          <a:p>
            <a:pPr algn="l" fontAlgn="base">
              <a:buFont typeface="Arial" panose="020B0604020202020204" pitchFamily="34" charset="0"/>
              <a:buChar char="•"/>
            </a:pPr>
            <a:r>
              <a:rPr lang="en-US" b="0" i="0" dirty="0">
                <a:solidFill>
                  <a:srgbClr val="273239"/>
                </a:solidFill>
                <a:effectLst/>
                <a:latin typeface="Nunito" pitchFamily="2" charset="0"/>
              </a:rPr>
              <a:t> Queues are used for job scheduling in the operating system.</a:t>
            </a:r>
          </a:p>
          <a:p>
            <a:pPr algn="l" fontAlgn="base">
              <a:buFont typeface="Arial" panose="020B0604020202020204" pitchFamily="34" charset="0"/>
              <a:buChar char="•"/>
            </a:pPr>
            <a:r>
              <a:rPr lang="en-US" b="0" i="0" dirty="0">
                <a:solidFill>
                  <a:srgbClr val="273239"/>
                </a:solidFill>
                <a:effectLst/>
                <a:latin typeface="Nunito" pitchFamily="2" charset="0"/>
              </a:rPr>
              <a:t>In social media to upload multiple photos or videos queue is used.</a:t>
            </a:r>
          </a:p>
          <a:p>
            <a:pPr algn="l" fontAlgn="base">
              <a:buFont typeface="Arial" panose="020B0604020202020204" pitchFamily="34" charset="0"/>
              <a:buChar char="•"/>
            </a:pPr>
            <a:r>
              <a:rPr lang="en-US" b="0" i="0" dirty="0">
                <a:solidFill>
                  <a:srgbClr val="273239"/>
                </a:solidFill>
                <a:effectLst/>
                <a:latin typeface="Nunito" pitchFamily="2" charset="0"/>
              </a:rPr>
              <a:t>To send an e-mail queue data structure is used.</a:t>
            </a:r>
          </a:p>
          <a:p>
            <a:pPr algn="l" fontAlgn="base">
              <a:buFont typeface="Arial" panose="020B0604020202020204" pitchFamily="34" charset="0"/>
              <a:buChar char="•"/>
            </a:pPr>
            <a:r>
              <a:rPr lang="en-US" b="0" i="0" dirty="0">
                <a:solidFill>
                  <a:srgbClr val="273239"/>
                </a:solidFill>
                <a:effectLst/>
                <a:latin typeface="Nunito" pitchFamily="2" charset="0"/>
              </a:rPr>
              <a:t>To handle website traffic at a time queues are used.</a:t>
            </a:r>
          </a:p>
          <a:p>
            <a:pPr algn="l" fontAlgn="base">
              <a:buFont typeface="Arial" panose="020B0604020202020204" pitchFamily="34" charset="0"/>
              <a:buChar char="•"/>
            </a:pPr>
            <a:r>
              <a:rPr lang="en-US" b="0" i="0" dirty="0">
                <a:solidFill>
                  <a:srgbClr val="273239"/>
                </a:solidFill>
                <a:effectLst/>
                <a:latin typeface="Nunito" pitchFamily="2" charset="0"/>
              </a:rPr>
              <a:t>In Windows operating system, to switch multiple applications.</a:t>
            </a:r>
          </a:p>
          <a:p>
            <a:endParaRPr lang="en-IN" dirty="0"/>
          </a:p>
        </p:txBody>
      </p:sp>
    </p:spTree>
    <p:extLst>
      <p:ext uri="{BB962C8B-B14F-4D97-AF65-F5344CB8AC3E}">
        <p14:creationId xmlns:p14="http://schemas.microsoft.com/office/powerpoint/2010/main" val="580143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E8875-301F-4A36-8D41-AEC0D68BF2AF}"/>
              </a:ext>
            </a:extLst>
          </p:cNvPr>
          <p:cNvSpPr>
            <a:spLocks noGrp="1"/>
          </p:cNvSpPr>
          <p:nvPr>
            <p:ph type="title"/>
          </p:nvPr>
        </p:nvSpPr>
        <p:spPr/>
        <p:txBody>
          <a:bodyPr/>
          <a:lstStyle/>
          <a:p>
            <a:r>
              <a:rPr lang="en-US" b="1" i="0" dirty="0">
                <a:solidFill>
                  <a:srgbClr val="273239"/>
                </a:solidFill>
                <a:effectLst/>
                <a:latin typeface="Nunito" pitchFamily="2" charset="0"/>
              </a:rPr>
              <a:t>Tree:</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85C5D9EC-F131-4591-A80F-3D38910B2B76}"/>
              </a:ext>
            </a:extLst>
          </p:cNvPr>
          <p:cNvSpPr>
            <a:spLocks noGrp="1"/>
          </p:cNvSpPr>
          <p:nvPr>
            <p:ph idx="1"/>
          </p:nvPr>
        </p:nvSpPr>
        <p:spPr/>
        <p:txBody>
          <a:bodyPr>
            <a:normAutofit lnSpcReduction="10000"/>
          </a:bodyPr>
          <a:lstStyle/>
          <a:p>
            <a:pPr algn="l" rtl="0" fontAlgn="base"/>
            <a:r>
              <a:rPr lang="en-US" b="0" i="0" dirty="0">
                <a:solidFill>
                  <a:srgbClr val="273239"/>
                </a:solidFill>
                <a:effectLst/>
                <a:latin typeface="Nunito" pitchFamily="2" charset="0"/>
              </a:rPr>
              <a:t>A tree is a non-linear and hierarchical data structure where the elements are arranged in a tree-like structure.</a:t>
            </a:r>
          </a:p>
          <a:p>
            <a:pPr algn="l" rtl="0" fontAlgn="base"/>
            <a:r>
              <a:rPr lang="en-US" b="0" i="0" dirty="0">
                <a:solidFill>
                  <a:srgbClr val="273239"/>
                </a:solidFill>
                <a:effectLst/>
                <a:latin typeface="Nunito" pitchFamily="2" charset="0"/>
              </a:rPr>
              <a:t> In a tree, the topmost node is called the root node. Each node contains some data, and data can be of any type.</a:t>
            </a:r>
          </a:p>
          <a:p>
            <a:pPr algn="l" rtl="0" fontAlgn="base"/>
            <a:r>
              <a:rPr lang="en-US" b="0" i="0" dirty="0">
                <a:solidFill>
                  <a:srgbClr val="273239"/>
                </a:solidFill>
                <a:effectLst/>
                <a:latin typeface="Nunito" pitchFamily="2" charset="0"/>
              </a:rPr>
              <a:t> It consists of a central node, structural nodes, and sub-nodes which are connected via edges. </a:t>
            </a:r>
          </a:p>
          <a:p>
            <a:pPr algn="l" rtl="0" fontAlgn="base"/>
            <a:r>
              <a:rPr lang="en-US" b="0" i="0" dirty="0">
                <a:solidFill>
                  <a:srgbClr val="273239"/>
                </a:solidFill>
                <a:effectLst/>
                <a:latin typeface="Nunito" pitchFamily="2" charset="0"/>
              </a:rPr>
              <a:t>Different tree data structures allow quicker and easier access to the data as it is a non-linear data structure. </a:t>
            </a:r>
          </a:p>
          <a:p>
            <a:pPr algn="l" rtl="0" fontAlgn="base"/>
            <a:r>
              <a:rPr lang="en-US" b="0" i="0" dirty="0">
                <a:solidFill>
                  <a:srgbClr val="273239"/>
                </a:solidFill>
                <a:effectLst/>
                <a:latin typeface="Nunito" pitchFamily="2" charset="0"/>
              </a:rPr>
              <a:t>A tree has various terminologies like Node, Root, Edge, Height of a tree, Degree of a tree, etc. </a:t>
            </a:r>
          </a:p>
          <a:p>
            <a:endParaRPr lang="en-IN" dirty="0"/>
          </a:p>
        </p:txBody>
      </p:sp>
    </p:spTree>
    <p:extLst>
      <p:ext uri="{BB962C8B-B14F-4D97-AF65-F5344CB8AC3E}">
        <p14:creationId xmlns:p14="http://schemas.microsoft.com/office/powerpoint/2010/main" val="40111715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967C0-C946-4257-A82A-9363B7A20F0F}"/>
              </a:ext>
            </a:extLst>
          </p:cNvPr>
          <p:cNvSpPr>
            <a:spLocks noGrp="1"/>
          </p:cNvSpPr>
          <p:nvPr>
            <p:ph type="title"/>
          </p:nvPr>
        </p:nvSpPr>
        <p:spPr/>
        <p:txBody>
          <a:bodyPr/>
          <a:lstStyle/>
          <a:p>
            <a:endParaRPr lang="en-IN"/>
          </a:p>
        </p:txBody>
      </p:sp>
      <p:pic>
        <p:nvPicPr>
          <p:cNvPr id="9218" name="Picture 2" descr="Lightbox">
            <a:extLst>
              <a:ext uri="{FF2B5EF4-FFF2-40B4-BE49-F238E27FC236}">
                <a16:creationId xmlns:a16="http://schemas.microsoft.com/office/drawing/2014/main" id="{D0569D2B-7E36-484B-A88A-C7F83DB25FA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62062" y="1905794"/>
            <a:ext cx="9667875"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13007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0567B-93A7-4BC2-B9A8-FAC23D5937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991C8AC-EBA9-435F-B024-D838744A67EF}"/>
              </a:ext>
            </a:extLst>
          </p:cNvPr>
          <p:cNvSpPr>
            <a:spLocks noGrp="1"/>
          </p:cNvSpPr>
          <p:nvPr>
            <p:ph idx="1"/>
          </p:nvPr>
        </p:nvSpPr>
        <p:spPr/>
        <p:txBody>
          <a:bodyPr>
            <a:normAutofit/>
          </a:bodyPr>
          <a:lstStyle/>
          <a:p>
            <a:pPr algn="l" fontAlgn="base"/>
            <a:r>
              <a:rPr lang="en-US" b="1" i="0" dirty="0">
                <a:solidFill>
                  <a:srgbClr val="273239"/>
                </a:solidFill>
                <a:effectLst/>
                <a:latin typeface="Nunito" pitchFamily="2" charset="0"/>
              </a:rPr>
              <a:t>Characteristics of a Tree: </a:t>
            </a:r>
          </a:p>
          <a:p>
            <a:pPr algn="l" rtl="0" fontAlgn="base"/>
            <a:r>
              <a:rPr lang="en-US" b="0" i="0" dirty="0">
                <a:solidFill>
                  <a:srgbClr val="273239"/>
                </a:solidFill>
                <a:effectLst/>
                <a:latin typeface="Nunito" pitchFamily="2" charset="0"/>
              </a:rPr>
              <a:t>The tree has various different characteristics which are as follows:</a:t>
            </a:r>
          </a:p>
          <a:p>
            <a:pPr algn="l" fontAlgn="base">
              <a:buFont typeface="Arial" panose="020B0604020202020204" pitchFamily="34" charset="0"/>
              <a:buChar char="•"/>
            </a:pPr>
            <a:r>
              <a:rPr lang="en-US" b="0" i="0" dirty="0">
                <a:solidFill>
                  <a:srgbClr val="273239"/>
                </a:solidFill>
                <a:effectLst/>
                <a:latin typeface="Nunito" pitchFamily="2" charset="0"/>
              </a:rPr>
              <a:t>A tree is also known as a Recursive data structure.</a:t>
            </a:r>
          </a:p>
          <a:p>
            <a:pPr algn="l" fontAlgn="base">
              <a:buFont typeface="Arial" panose="020B0604020202020204" pitchFamily="34" charset="0"/>
              <a:buChar char="•"/>
            </a:pPr>
            <a:r>
              <a:rPr lang="en-US" b="0" i="0" dirty="0">
                <a:solidFill>
                  <a:srgbClr val="273239"/>
                </a:solidFill>
                <a:effectLst/>
                <a:latin typeface="Nunito" pitchFamily="2" charset="0"/>
              </a:rPr>
              <a:t>In a tree, the Height of the root can be defined as the longest path from the root node to the leaf node.</a:t>
            </a:r>
          </a:p>
          <a:p>
            <a:pPr algn="l" fontAlgn="base">
              <a:buFont typeface="Arial" panose="020B0604020202020204" pitchFamily="34" charset="0"/>
              <a:buChar char="•"/>
            </a:pPr>
            <a:r>
              <a:rPr lang="en-US" b="0" i="0" dirty="0">
                <a:solidFill>
                  <a:srgbClr val="273239"/>
                </a:solidFill>
                <a:effectLst/>
                <a:latin typeface="Nunito" pitchFamily="2" charset="0"/>
              </a:rPr>
              <a:t>In a tree, one can also calculate the depth from the top to any node. The root node has a depth of 0.</a:t>
            </a:r>
          </a:p>
          <a:p>
            <a:endParaRPr lang="en-IN" dirty="0"/>
          </a:p>
        </p:txBody>
      </p:sp>
    </p:spTree>
    <p:extLst>
      <p:ext uri="{BB962C8B-B14F-4D97-AF65-F5344CB8AC3E}">
        <p14:creationId xmlns:p14="http://schemas.microsoft.com/office/powerpoint/2010/main" val="7943179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19C5F-2C27-4518-AA89-793F91C5C39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289F853-A674-4700-A218-3702E66BE9BC}"/>
              </a:ext>
            </a:extLst>
          </p:cNvPr>
          <p:cNvSpPr>
            <a:spLocks noGrp="1"/>
          </p:cNvSpPr>
          <p:nvPr>
            <p:ph idx="1"/>
          </p:nvPr>
        </p:nvSpPr>
        <p:spPr/>
        <p:txBody>
          <a:bodyPr/>
          <a:lstStyle/>
          <a:p>
            <a:pPr algn="l" fontAlgn="base"/>
            <a:r>
              <a:rPr lang="en-US" b="1" i="0" dirty="0">
                <a:solidFill>
                  <a:srgbClr val="273239"/>
                </a:solidFill>
                <a:effectLst/>
                <a:latin typeface="Nunito" pitchFamily="2" charset="0"/>
              </a:rPr>
              <a:t>Applications of Tree: </a:t>
            </a:r>
          </a:p>
          <a:p>
            <a:pPr algn="l" rtl="0" fontAlgn="base"/>
            <a:r>
              <a:rPr lang="en-US" b="0" i="0" dirty="0">
                <a:solidFill>
                  <a:srgbClr val="273239"/>
                </a:solidFill>
                <a:effectLst/>
                <a:latin typeface="Nunito" pitchFamily="2" charset="0"/>
              </a:rPr>
              <a:t>Different applications of Tree are as follows:</a:t>
            </a:r>
          </a:p>
          <a:p>
            <a:pPr algn="l" fontAlgn="base">
              <a:buFont typeface="Arial" panose="020B0604020202020204" pitchFamily="34" charset="0"/>
              <a:buChar char="•"/>
            </a:pPr>
            <a:r>
              <a:rPr lang="en-US" b="0" i="0" dirty="0">
                <a:solidFill>
                  <a:srgbClr val="273239"/>
                </a:solidFill>
                <a:effectLst/>
                <a:latin typeface="Nunito" pitchFamily="2" charset="0"/>
              </a:rPr>
              <a:t>Heap is a tree data structure that is implemented using arrays and used to implement priority queues.</a:t>
            </a:r>
          </a:p>
          <a:p>
            <a:pPr algn="l" fontAlgn="base">
              <a:buFont typeface="Arial" panose="020B0604020202020204" pitchFamily="34" charset="0"/>
              <a:buChar char="•"/>
            </a:pPr>
            <a:r>
              <a:rPr lang="en-US" b="0" i="0" dirty="0">
                <a:solidFill>
                  <a:srgbClr val="273239"/>
                </a:solidFill>
                <a:effectLst/>
                <a:latin typeface="Nunito" pitchFamily="2" charset="0"/>
              </a:rPr>
              <a:t>B-Tree and B+ Tree are used to implement indexing in databases.</a:t>
            </a:r>
          </a:p>
          <a:p>
            <a:pPr algn="l" fontAlgn="base">
              <a:buFont typeface="Arial" panose="020B0604020202020204" pitchFamily="34" charset="0"/>
              <a:buChar char="•"/>
            </a:pPr>
            <a:r>
              <a:rPr lang="en-US" b="0" i="0" dirty="0">
                <a:solidFill>
                  <a:srgbClr val="273239"/>
                </a:solidFill>
                <a:effectLst/>
                <a:latin typeface="Nunito" pitchFamily="2" charset="0"/>
              </a:rPr>
              <a:t>Syntax Tree helps in scanning, parsing, generation of code, and evaluation of arithmetic expressions in Compiler design.</a:t>
            </a:r>
          </a:p>
          <a:p>
            <a:endParaRPr lang="en-IN" dirty="0"/>
          </a:p>
        </p:txBody>
      </p:sp>
    </p:spTree>
    <p:extLst>
      <p:ext uri="{BB962C8B-B14F-4D97-AF65-F5344CB8AC3E}">
        <p14:creationId xmlns:p14="http://schemas.microsoft.com/office/powerpoint/2010/main" val="41863576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A66B6-09C1-4F89-93DE-24A89D249C97}"/>
              </a:ext>
            </a:extLst>
          </p:cNvPr>
          <p:cNvSpPr>
            <a:spLocks noGrp="1"/>
          </p:cNvSpPr>
          <p:nvPr>
            <p:ph type="title"/>
          </p:nvPr>
        </p:nvSpPr>
        <p:spPr/>
        <p:txBody>
          <a:bodyPr/>
          <a:lstStyle/>
          <a:p>
            <a:r>
              <a:rPr lang="en-US" b="1" i="0" dirty="0">
                <a:solidFill>
                  <a:srgbClr val="273239"/>
                </a:solidFill>
                <a:effectLst/>
                <a:latin typeface="Nunito" pitchFamily="2" charset="0"/>
              </a:rPr>
              <a:t>Graph:</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76172DDE-9BB0-44B6-A4C8-A66C2C1AEBA7}"/>
              </a:ext>
            </a:extLst>
          </p:cNvPr>
          <p:cNvSpPr>
            <a:spLocks noGrp="1"/>
          </p:cNvSpPr>
          <p:nvPr>
            <p:ph idx="1"/>
          </p:nvPr>
        </p:nvSpPr>
        <p:spPr/>
        <p:txBody>
          <a:bodyPr/>
          <a:lstStyle/>
          <a:p>
            <a:pPr algn="l" rtl="0" fontAlgn="base"/>
            <a:r>
              <a:rPr lang="en-US" b="0" i="0" dirty="0">
                <a:solidFill>
                  <a:srgbClr val="273239"/>
                </a:solidFill>
                <a:effectLst/>
                <a:latin typeface="Nunito" pitchFamily="2" charset="0"/>
              </a:rPr>
              <a:t>A graph is a non-linear data structure that consists of vertices (or nodes) and edges. </a:t>
            </a:r>
          </a:p>
          <a:p>
            <a:pPr algn="l" rtl="0" fontAlgn="base"/>
            <a:r>
              <a:rPr lang="en-US" b="0" i="0" dirty="0">
                <a:solidFill>
                  <a:srgbClr val="273239"/>
                </a:solidFill>
                <a:effectLst/>
                <a:latin typeface="Nunito" pitchFamily="2" charset="0"/>
              </a:rPr>
              <a:t>It consists of a finite set of vertices and set of edges that connect a pair of nodes. </a:t>
            </a:r>
          </a:p>
          <a:p>
            <a:pPr algn="l" rtl="0" fontAlgn="base"/>
            <a:r>
              <a:rPr lang="en-US" b="0" i="0" dirty="0">
                <a:solidFill>
                  <a:srgbClr val="273239"/>
                </a:solidFill>
                <a:effectLst/>
                <a:latin typeface="Nunito" pitchFamily="2" charset="0"/>
              </a:rPr>
              <a:t>The graph is used to solve the most challenging and complex programming problems.</a:t>
            </a:r>
          </a:p>
          <a:p>
            <a:pPr algn="l" rtl="0" fontAlgn="base"/>
            <a:r>
              <a:rPr lang="en-US" b="0" i="0" dirty="0">
                <a:solidFill>
                  <a:srgbClr val="273239"/>
                </a:solidFill>
                <a:effectLst/>
                <a:latin typeface="Nunito" pitchFamily="2" charset="0"/>
              </a:rPr>
              <a:t> It has different terminologies which are Path, Degree, Adjacent vertices, Connected components, etc.</a:t>
            </a:r>
          </a:p>
          <a:p>
            <a:endParaRPr lang="en-IN" dirty="0"/>
          </a:p>
        </p:txBody>
      </p:sp>
    </p:spTree>
    <p:extLst>
      <p:ext uri="{BB962C8B-B14F-4D97-AF65-F5344CB8AC3E}">
        <p14:creationId xmlns:p14="http://schemas.microsoft.com/office/powerpoint/2010/main" val="9864926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8E5AE-53E3-4F6C-8959-565D241F4AF9}"/>
              </a:ext>
            </a:extLst>
          </p:cNvPr>
          <p:cNvSpPr>
            <a:spLocks noGrp="1"/>
          </p:cNvSpPr>
          <p:nvPr>
            <p:ph type="title"/>
          </p:nvPr>
        </p:nvSpPr>
        <p:spPr/>
        <p:txBody>
          <a:bodyPr/>
          <a:lstStyle/>
          <a:p>
            <a:endParaRPr lang="en-IN"/>
          </a:p>
        </p:txBody>
      </p:sp>
      <p:pic>
        <p:nvPicPr>
          <p:cNvPr id="10242" name="Picture 2" descr="Lightbox">
            <a:extLst>
              <a:ext uri="{FF2B5EF4-FFF2-40B4-BE49-F238E27FC236}">
                <a16:creationId xmlns:a16="http://schemas.microsoft.com/office/drawing/2014/main" id="{A9E01346-0B04-4EB6-BF8A-F429845FF82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57612" y="2991644"/>
            <a:ext cx="4676775" cy="201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2799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3180</Words>
  <Application>Microsoft Office PowerPoint</Application>
  <PresentationFormat>Widescreen</PresentationFormat>
  <Paragraphs>171</Paragraphs>
  <Slides>43</Slides>
  <Notes>0</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UNIT 3</vt:lpstr>
      <vt:lpstr>An Introduction to Data Structures </vt:lpstr>
      <vt:lpstr>PowerPoint Presentation</vt:lpstr>
      <vt:lpstr>In the example mentioned above, the items such as ID, Age, Gender, First, Middle, Last, Street, Locality, etc., are elementary data items. In contrast, the Name and the Address are group data items.</vt:lpstr>
      <vt:lpstr>What is Data Structure? </vt:lpstr>
      <vt:lpstr>PowerPoint Presentation</vt:lpstr>
      <vt:lpstr>Basic Terminologies related to Data Structures </vt:lpstr>
      <vt:lpstr>PowerPoint Presentation</vt:lpstr>
      <vt:lpstr>PowerPoint Presentation</vt:lpstr>
      <vt:lpstr>Understanding the Need for Data Structures </vt:lpstr>
      <vt:lpstr>PowerPoint Presentation</vt:lpstr>
      <vt:lpstr>PowerPoint Presentation</vt:lpstr>
      <vt:lpstr>Classification of Data Structures </vt:lpstr>
      <vt:lpstr>Primitive data structure</vt:lpstr>
      <vt:lpstr>PowerPoint Presentation</vt:lpstr>
      <vt:lpstr>Linear data structure: </vt:lpstr>
      <vt:lpstr>PowerPoint Presentation</vt:lpstr>
      <vt:lpstr>Arrays: </vt:lpstr>
      <vt:lpstr>PowerPoint Presentation</vt:lpstr>
      <vt:lpstr>Characteristics of an Array:  </vt:lpstr>
      <vt:lpstr>Arrays can be classified into different types: </vt:lpstr>
      <vt:lpstr>Linked list:  </vt:lpstr>
      <vt:lpstr>Linked list</vt:lpstr>
      <vt:lpstr>PowerPoint Presentation</vt:lpstr>
      <vt:lpstr>Linked Lists can be classified into different types: </vt:lpstr>
      <vt:lpstr>Some Applications of Linked Lists: </vt:lpstr>
      <vt:lpstr>STACKS</vt:lpstr>
      <vt:lpstr>PowerPoint Presentation</vt:lpstr>
      <vt:lpstr>PowerPoint Presentation</vt:lpstr>
      <vt:lpstr>PowerPoint Presentation</vt:lpstr>
      <vt:lpstr>Applications of stack</vt:lpstr>
      <vt:lpstr>Queues </vt:lpstr>
      <vt:lpstr>PowerPoint Presentation</vt:lpstr>
      <vt:lpstr>PowerPoint Presentation</vt:lpstr>
      <vt:lpstr>PowerPoint Presentation</vt:lpstr>
      <vt:lpstr>Characteristics of a Queue:  </vt:lpstr>
      <vt:lpstr>Applications of Queue:  </vt:lpstr>
      <vt:lpstr>Tree: </vt:lpstr>
      <vt:lpstr>PowerPoint Presentation</vt:lpstr>
      <vt:lpstr>PowerPoint Presentation</vt:lpstr>
      <vt:lpstr>PowerPoint Presentation</vt:lpstr>
      <vt:lpstr>Graph: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Infinix</dc:creator>
  <cp:lastModifiedBy>dharaniya6@gmail.com</cp:lastModifiedBy>
  <cp:revision>6</cp:revision>
  <dcterms:created xsi:type="dcterms:W3CDTF">2024-04-01T15:01:19Z</dcterms:created>
  <dcterms:modified xsi:type="dcterms:W3CDTF">2024-04-23T10:50:06Z</dcterms:modified>
</cp:coreProperties>
</file>